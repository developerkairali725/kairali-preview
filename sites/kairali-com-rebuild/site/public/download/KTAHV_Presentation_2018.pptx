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03" r:id="rId2"/>
    <p:sldId id="302" r:id="rId3"/>
    <p:sldId id="304" r:id="rId4"/>
    <p:sldId id="259" r:id="rId5"/>
    <p:sldId id="260" r:id="rId6"/>
    <p:sldId id="261" r:id="rId7"/>
    <p:sldId id="264" r:id="rId8"/>
    <p:sldId id="271" r:id="rId9"/>
    <p:sldId id="306" r:id="rId10"/>
    <p:sldId id="280" r:id="rId11"/>
    <p:sldId id="265" r:id="rId12"/>
    <p:sldId id="278" r:id="rId13"/>
    <p:sldId id="266" r:id="rId14"/>
    <p:sldId id="268" r:id="rId15"/>
    <p:sldId id="267" r:id="rId16"/>
    <p:sldId id="270" r:id="rId17"/>
    <p:sldId id="307" r:id="rId18"/>
    <p:sldId id="308" r:id="rId19"/>
    <p:sldId id="309" r:id="rId20"/>
    <p:sldId id="310" r:id="rId21"/>
    <p:sldId id="279"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7200B-97D2-4879-8C94-B516FFDD4EA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B6B4F07-4BF9-429C-8C84-12BC32E08E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268BBE-3E4D-434D-84D4-E480C8ECCBBF}"/>
              </a:ext>
            </a:extLst>
          </p:cNvPr>
          <p:cNvSpPr>
            <a:spLocks noGrp="1"/>
          </p:cNvSpPr>
          <p:nvPr>
            <p:ph type="dt" sz="half" idx="10"/>
          </p:nvPr>
        </p:nvSpPr>
        <p:spPr/>
        <p:txBody>
          <a:bodyPr/>
          <a:lstStyle/>
          <a:p>
            <a:fld id="{B4C1DD64-AEAD-4385-8D05-50D414B38C6A}" type="datetimeFigureOut">
              <a:rPr lang="en-US" smtClean="0"/>
              <a:t>8/14/2018</a:t>
            </a:fld>
            <a:endParaRPr lang="en-US"/>
          </a:p>
        </p:txBody>
      </p:sp>
      <p:sp>
        <p:nvSpPr>
          <p:cNvPr id="5" name="Footer Placeholder 4">
            <a:extLst>
              <a:ext uri="{FF2B5EF4-FFF2-40B4-BE49-F238E27FC236}">
                <a16:creationId xmlns:a16="http://schemas.microsoft.com/office/drawing/2014/main" id="{9CC79EB6-D00F-49AA-B416-04EE636840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B91A9C-87DE-42E5-96C4-18DDD62D6AF6}"/>
              </a:ext>
            </a:extLst>
          </p:cNvPr>
          <p:cNvSpPr>
            <a:spLocks noGrp="1"/>
          </p:cNvSpPr>
          <p:nvPr>
            <p:ph type="sldNum" sz="quarter" idx="12"/>
          </p:nvPr>
        </p:nvSpPr>
        <p:spPr/>
        <p:txBody>
          <a:bodyPr/>
          <a:lstStyle/>
          <a:p>
            <a:fld id="{93609777-34DD-4107-AF86-3835043C5BE4}" type="slidenum">
              <a:rPr lang="en-US" smtClean="0"/>
              <a:t>‹#›</a:t>
            </a:fld>
            <a:endParaRPr lang="en-US"/>
          </a:p>
        </p:txBody>
      </p:sp>
    </p:spTree>
    <p:extLst>
      <p:ext uri="{BB962C8B-B14F-4D97-AF65-F5344CB8AC3E}">
        <p14:creationId xmlns:p14="http://schemas.microsoft.com/office/powerpoint/2010/main" val="12234899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B7C18-CC17-4E79-9ED0-F2FBD5CAA78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AE244E1-2828-4D3A-9D5A-7497BE53DC7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AFC84B-5709-4B66-B517-EFAFFFB24F49}"/>
              </a:ext>
            </a:extLst>
          </p:cNvPr>
          <p:cNvSpPr>
            <a:spLocks noGrp="1"/>
          </p:cNvSpPr>
          <p:nvPr>
            <p:ph type="dt" sz="half" idx="10"/>
          </p:nvPr>
        </p:nvSpPr>
        <p:spPr/>
        <p:txBody>
          <a:bodyPr/>
          <a:lstStyle/>
          <a:p>
            <a:fld id="{B4C1DD64-AEAD-4385-8D05-50D414B38C6A}" type="datetimeFigureOut">
              <a:rPr lang="en-US" smtClean="0"/>
              <a:t>8/14/2018</a:t>
            </a:fld>
            <a:endParaRPr lang="en-US"/>
          </a:p>
        </p:txBody>
      </p:sp>
      <p:sp>
        <p:nvSpPr>
          <p:cNvPr id="5" name="Footer Placeholder 4">
            <a:extLst>
              <a:ext uri="{FF2B5EF4-FFF2-40B4-BE49-F238E27FC236}">
                <a16:creationId xmlns:a16="http://schemas.microsoft.com/office/drawing/2014/main" id="{4E3DD832-897B-4746-8DD4-6DFB223569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6DA8AF-F2F2-415D-8940-BB96DB83B0EE}"/>
              </a:ext>
            </a:extLst>
          </p:cNvPr>
          <p:cNvSpPr>
            <a:spLocks noGrp="1"/>
          </p:cNvSpPr>
          <p:nvPr>
            <p:ph type="sldNum" sz="quarter" idx="12"/>
          </p:nvPr>
        </p:nvSpPr>
        <p:spPr/>
        <p:txBody>
          <a:bodyPr/>
          <a:lstStyle/>
          <a:p>
            <a:fld id="{93609777-34DD-4107-AF86-3835043C5BE4}" type="slidenum">
              <a:rPr lang="en-US" smtClean="0"/>
              <a:t>‹#›</a:t>
            </a:fld>
            <a:endParaRPr lang="en-US"/>
          </a:p>
        </p:txBody>
      </p:sp>
    </p:spTree>
    <p:extLst>
      <p:ext uri="{BB962C8B-B14F-4D97-AF65-F5344CB8AC3E}">
        <p14:creationId xmlns:p14="http://schemas.microsoft.com/office/powerpoint/2010/main" val="31711837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1A1F0-490E-469D-846A-53248B4E64C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14773F5-4225-4FE3-9B46-DE2BE0368B3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B3015F04-1DF5-4E57-B635-97FCA48BBD3D}"/>
              </a:ext>
            </a:extLst>
          </p:cNvPr>
          <p:cNvSpPr>
            <a:spLocks noGrp="1"/>
          </p:cNvSpPr>
          <p:nvPr>
            <p:ph type="dt" sz="half" idx="10"/>
          </p:nvPr>
        </p:nvSpPr>
        <p:spPr/>
        <p:txBody>
          <a:bodyPr/>
          <a:lstStyle/>
          <a:p>
            <a:fld id="{B4C1DD64-AEAD-4385-8D05-50D414B38C6A}" type="datetimeFigureOut">
              <a:rPr lang="en-US" smtClean="0"/>
              <a:t>8/14/2018</a:t>
            </a:fld>
            <a:endParaRPr lang="en-US"/>
          </a:p>
        </p:txBody>
      </p:sp>
      <p:sp>
        <p:nvSpPr>
          <p:cNvPr id="5" name="Footer Placeholder 4">
            <a:extLst>
              <a:ext uri="{FF2B5EF4-FFF2-40B4-BE49-F238E27FC236}">
                <a16:creationId xmlns:a16="http://schemas.microsoft.com/office/drawing/2014/main" id="{CE96EA53-C16A-46C9-BE81-13D20B0A95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B84F02-C6A2-4110-BAE6-CC6FC9FAFFBC}"/>
              </a:ext>
            </a:extLst>
          </p:cNvPr>
          <p:cNvSpPr>
            <a:spLocks noGrp="1"/>
          </p:cNvSpPr>
          <p:nvPr>
            <p:ph type="sldNum" sz="quarter" idx="12"/>
          </p:nvPr>
        </p:nvSpPr>
        <p:spPr/>
        <p:txBody>
          <a:bodyPr/>
          <a:lstStyle/>
          <a:p>
            <a:fld id="{93609777-34DD-4107-AF86-3835043C5BE4}" type="slidenum">
              <a:rPr lang="en-US" smtClean="0"/>
              <a:t>‹#›</a:t>
            </a:fld>
            <a:endParaRPr lang="en-US"/>
          </a:p>
        </p:txBody>
      </p:sp>
    </p:spTree>
    <p:extLst>
      <p:ext uri="{BB962C8B-B14F-4D97-AF65-F5344CB8AC3E}">
        <p14:creationId xmlns:p14="http://schemas.microsoft.com/office/powerpoint/2010/main" val="31620487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F6DBE-C6D2-4140-AB79-8D97B0062E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0B8FA02-9318-43EF-A203-65678FBA5205}"/>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AB04C26-E9F1-42B0-AAD9-7B0686002AD3}"/>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B6244D5-692A-4EA8-9625-48537BEC1470}"/>
              </a:ext>
            </a:extLst>
          </p:cNvPr>
          <p:cNvSpPr>
            <a:spLocks noGrp="1"/>
          </p:cNvSpPr>
          <p:nvPr>
            <p:ph type="dt" sz="half" idx="10"/>
          </p:nvPr>
        </p:nvSpPr>
        <p:spPr/>
        <p:txBody>
          <a:bodyPr/>
          <a:lstStyle/>
          <a:p>
            <a:fld id="{B4C1DD64-AEAD-4385-8D05-50D414B38C6A}" type="datetimeFigureOut">
              <a:rPr lang="en-US" smtClean="0"/>
              <a:t>8/14/2018</a:t>
            </a:fld>
            <a:endParaRPr lang="en-US"/>
          </a:p>
        </p:txBody>
      </p:sp>
      <p:sp>
        <p:nvSpPr>
          <p:cNvPr id="6" name="Footer Placeholder 5">
            <a:extLst>
              <a:ext uri="{FF2B5EF4-FFF2-40B4-BE49-F238E27FC236}">
                <a16:creationId xmlns:a16="http://schemas.microsoft.com/office/drawing/2014/main" id="{6E6FF8E6-34D1-4CB9-9EF6-81C8EB57B5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CB8BA78-2A98-442E-BAC2-AF75A5C90E79}"/>
              </a:ext>
            </a:extLst>
          </p:cNvPr>
          <p:cNvSpPr>
            <a:spLocks noGrp="1"/>
          </p:cNvSpPr>
          <p:nvPr>
            <p:ph type="sldNum" sz="quarter" idx="12"/>
          </p:nvPr>
        </p:nvSpPr>
        <p:spPr/>
        <p:txBody>
          <a:bodyPr/>
          <a:lstStyle/>
          <a:p>
            <a:fld id="{93609777-34DD-4107-AF86-3835043C5BE4}" type="slidenum">
              <a:rPr lang="en-US" smtClean="0"/>
              <a:t>‹#›</a:t>
            </a:fld>
            <a:endParaRPr lang="en-US"/>
          </a:p>
        </p:txBody>
      </p:sp>
    </p:spTree>
    <p:extLst>
      <p:ext uri="{BB962C8B-B14F-4D97-AF65-F5344CB8AC3E}">
        <p14:creationId xmlns:p14="http://schemas.microsoft.com/office/powerpoint/2010/main" val="40416437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2FC02-53FD-4EF0-AD89-6404B4A7358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BA3B749-0007-4D4B-864A-9C38D73113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062A1167-95EE-49CF-B3E9-8F99ADBEC1A1}"/>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87B5C1-1B77-4C68-872D-150F1839B2B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407B815-0D02-4E78-96C9-62BDF11B0A00}"/>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FF6DD07-B961-45FF-9D12-AD917C011F91}"/>
              </a:ext>
            </a:extLst>
          </p:cNvPr>
          <p:cNvSpPr>
            <a:spLocks noGrp="1"/>
          </p:cNvSpPr>
          <p:nvPr>
            <p:ph type="dt" sz="half" idx="10"/>
          </p:nvPr>
        </p:nvSpPr>
        <p:spPr/>
        <p:txBody>
          <a:bodyPr/>
          <a:lstStyle/>
          <a:p>
            <a:fld id="{B4C1DD64-AEAD-4385-8D05-50D414B38C6A}" type="datetimeFigureOut">
              <a:rPr lang="en-US" smtClean="0"/>
              <a:t>8/14/2018</a:t>
            </a:fld>
            <a:endParaRPr lang="en-US"/>
          </a:p>
        </p:txBody>
      </p:sp>
      <p:sp>
        <p:nvSpPr>
          <p:cNvPr id="8" name="Footer Placeholder 7">
            <a:extLst>
              <a:ext uri="{FF2B5EF4-FFF2-40B4-BE49-F238E27FC236}">
                <a16:creationId xmlns:a16="http://schemas.microsoft.com/office/drawing/2014/main" id="{8AD503C2-094F-4F7F-BB07-1142E6107FF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BD4881D-AD07-48E8-ADB7-D4DEE89EA214}"/>
              </a:ext>
            </a:extLst>
          </p:cNvPr>
          <p:cNvSpPr>
            <a:spLocks noGrp="1"/>
          </p:cNvSpPr>
          <p:nvPr>
            <p:ph type="sldNum" sz="quarter" idx="12"/>
          </p:nvPr>
        </p:nvSpPr>
        <p:spPr/>
        <p:txBody>
          <a:bodyPr/>
          <a:lstStyle/>
          <a:p>
            <a:fld id="{93609777-34DD-4107-AF86-3835043C5BE4}" type="slidenum">
              <a:rPr lang="en-US" smtClean="0"/>
              <a:t>‹#›</a:t>
            </a:fld>
            <a:endParaRPr lang="en-US"/>
          </a:p>
        </p:txBody>
      </p:sp>
    </p:spTree>
    <p:extLst>
      <p:ext uri="{BB962C8B-B14F-4D97-AF65-F5344CB8AC3E}">
        <p14:creationId xmlns:p14="http://schemas.microsoft.com/office/powerpoint/2010/main" val="1100786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66CF8-0E5F-417D-A327-CC0FE96BE77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5359AF2-D785-4620-804A-C15E3A3E0217}"/>
              </a:ext>
            </a:extLst>
          </p:cNvPr>
          <p:cNvSpPr>
            <a:spLocks noGrp="1"/>
          </p:cNvSpPr>
          <p:nvPr>
            <p:ph type="dt" sz="half" idx="10"/>
          </p:nvPr>
        </p:nvSpPr>
        <p:spPr/>
        <p:txBody>
          <a:bodyPr/>
          <a:lstStyle/>
          <a:p>
            <a:fld id="{B4C1DD64-AEAD-4385-8D05-50D414B38C6A}" type="datetimeFigureOut">
              <a:rPr lang="en-US" smtClean="0"/>
              <a:t>8/14/2018</a:t>
            </a:fld>
            <a:endParaRPr lang="en-US"/>
          </a:p>
        </p:txBody>
      </p:sp>
      <p:sp>
        <p:nvSpPr>
          <p:cNvPr id="4" name="Footer Placeholder 3">
            <a:extLst>
              <a:ext uri="{FF2B5EF4-FFF2-40B4-BE49-F238E27FC236}">
                <a16:creationId xmlns:a16="http://schemas.microsoft.com/office/drawing/2014/main" id="{C0EB71BC-27AE-42FF-AA8C-B3B4133B44F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E3648AF-B8C8-4BF0-8982-F6CBA80655DD}"/>
              </a:ext>
            </a:extLst>
          </p:cNvPr>
          <p:cNvSpPr>
            <a:spLocks noGrp="1"/>
          </p:cNvSpPr>
          <p:nvPr>
            <p:ph type="sldNum" sz="quarter" idx="12"/>
          </p:nvPr>
        </p:nvSpPr>
        <p:spPr/>
        <p:txBody>
          <a:bodyPr/>
          <a:lstStyle/>
          <a:p>
            <a:fld id="{93609777-34DD-4107-AF86-3835043C5BE4}" type="slidenum">
              <a:rPr lang="en-US" smtClean="0"/>
              <a:t>‹#›</a:t>
            </a:fld>
            <a:endParaRPr lang="en-US"/>
          </a:p>
        </p:txBody>
      </p:sp>
    </p:spTree>
    <p:extLst>
      <p:ext uri="{BB962C8B-B14F-4D97-AF65-F5344CB8AC3E}">
        <p14:creationId xmlns:p14="http://schemas.microsoft.com/office/powerpoint/2010/main" val="40520668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69DA9C-B121-43A4-8934-9BDF78389369}"/>
              </a:ext>
            </a:extLst>
          </p:cNvPr>
          <p:cNvSpPr>
            <a:spLocks noGrp="1"/>
          </p:cNvSpPr>
          <p:nvPr>
            <p:ph type="dt" sz="half" idx="10"/>
          </p:nvPr>
        </p:nvSpPr>
        <p:spPr/>
        <p:txBody>
          <a:bodyPr/>
          <a:lstStyle/>
          <a:p>
            <a:fld id="{B4C1DD64-AEAD-4385-8D05-50D414B38C6A}" type="datetimeFigureOut">
              <a:rPr lang="en-US" smtClean="0"/>
              <a:t>8/14/2018</a:t>
            </a:fld>
            <a:endParaRPr lang="en-US"/>
          </a:p>
        </p:txBody>
      </p:sp>
      <p:sp>
        <p:nvSpPr>
          <p:cNvPr id="3" name="Footer Placeholder 2">
            <a:extLst>
              <a:ext uri="{FF2B5EF4-FFF2-40B4-BE49-F238E27FC236}">
                <a16:creationId xmlns:a16="http://schemas.microsoft.com/office/drawing/2014/main" id="{FB2EE933-8803-422C-AE3D-219B05E4D32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3399E02-6E58-4ECC-BF1C-6218F6CA279E}"/>
              </a:ext>
            </a:extLst>
          </p:cNvPr>
          <p:cNvSpPr>
            <a:spLocks noGrp="1"/>
          </p:cNvSpPr>
          <p:nvPr>
            <p:ph type="sldNum" sz="quarter" idx="12"/>
          </p:nvPr>
        </p:nvSpPr>
        <p:spPr/>
        <p:txBody>
          <a:bodyPr/>
          <a:lstStyle/>
          <a:p>
            <a:fld id="{93609777-34DD-4107-AF86-3835043C5BE4}" type="slidenum">
              <a:rPr lang="en-US" smtClean="0"/>
              <a:t>‹#›</a:t>
            </a:fld>
            <a:endParaRPr lang="en-US"/>
          </a:p>
        </p:txBody>
      </p:sp>
    </p:spTree>
    <p:extLst>
      <p:ext uri="{BB962C8B-B14F-4D97-AF65-F5344CB8AC3E}">
        <p14:creationId xmlns:p14="http://schemas.microsoft.com/office/powerpoint/2010/main" val="30429668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BC18D-863E-4FDD-BF74-D818CF86C8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0DEE0AF-7412-42D3-B433-A35ED0D1F90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D69CE85-893D-42BC-97F4-08E73D2EAB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A692EC4-2CF1-47E0-8B9B-616018A13381}"/>
              </a:ext>
            </a:extLst>
          </p:cNvPr>
          <p:cNvSpPr>
            <a:spLocks noGrp="1"/>
          </p:cNvSpPr>
          <p:nvPr>
            <p:ph type="dt" sz="half" idx="10"/>
          </p:nvPr>
        </p:nvSpPr>
        <p:spPr/>
        <p:txBody>
          <a:bodyPr/>
          <a:lstStyle/>
          <a:p>
            <a:fld id="{B4C1DD64-AEAD-4385-8D05-50D414B38C6A}" type="datetimeFigureOut">
              <a:rPr lang="en-US" smtClean="0"/>
              <a:t>8/14/2018</a:t>
            </a:fld>
            <a:endParaRPr lang="en-US"/>
          </a:p>
        </p:txBody>
      </p:sp>
      <p:sp>
        <p:nvSpPr>
          <p:cNvPr id="6" name="Footer Placeholder 5">
            <a:extLst>
              <a:ext uri="{FF2B5EF4-FFF2-40B4-BE49-F238E27FC236}">
                <a16:creationId xmlns:a16="http://schemas.microsoft.com/office/drawing/2014/main" id="{E009C63E-473B-4C60-86D8-AB58015F8A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A864F8-097B-4BFC-9A2D-ABF1F3795472}"/>
              </a:ext>
            </a:extLst>
          </p:cNvPr>
          <p:cNvSpPr>
            <a:spLocks noGrp="1"/>
          </p:cNvSpPr>
          <p:nvPr>
            <p:ph type="sldNum" sz="quarter" idx="12"/>
          </p:nvPr>
        </p:nvSpPr>
        <p:spPr/>
        <p:txBody>
          <a:bodyPr/>
          <a:lstStyle/>
          <a:p>
            <a:fld id="{93609777-34DD-4107-AF86-3835043C5BE4}" type="slidenum">
              <a:rPr lang="en-US" smtClean="0"/>
              <a:t>‹#›</a:t>
            </a:fld>
            <a:endParaRPr lang="en-US"/>
          </a:p>
        </p:txBody>
      </p:sp>
    </p:spTree>
    <p:extLst>
      <p:ext uri="{BB962C8B-B14F-4D97-AF65-F5344CB8AC3E}">
        <p14:creationId xmlns:p14="http://schemas.microsoft.com/office/powerpoint/2010/main" val="3471850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91BF6-DA65-4069-B7B5-8D7E276CA6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E47CEA4-AD47-4FE0-A775-5B12C1C793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DAEFAB-F9F0-4585-985D-21E2DA60E2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C0F470B-C533-4174-BF7D-27CCE4A1F6BD}"/>
              </a:ext>
            </a:extLst>
          </p:cNvPr>
          <p:cNvSpPr>
            <a:spLocks noGrp="1"/>
          </p:cNvSpPr>
          <p:nvPr>
            <p:ph type="dt" sz="half" idx="10"/>
          </p:nvPr>
        </p:nvSpPr>
        <p:spPr/>
        <p:txBody>
          <a:bodyPr/>
          <a:lstStyle/>
          <a:p>
            <a:fld id="{B4C1DD64-AEAD-4385-8D05-50D414B38C6A}" type="datetimeFigureOut">
              <a:rPr lang="en-US" smtClean="0"/>
              <a:t>8/14/2018</a:t>
            </a:fld>
            <a:endParaRPr lang="en-US"/>
          </a:p>
        </p:txBody>
      </p:sp>
      <p:sp>
        <p:nvSpPr>
          <p:cNvPr id="6" name="Footer Placeholder 5">
            <a:extLst>
              <a:ext uri="{FF2B5EF4-FFF2-40B4-BE49-F238E27FC236}">
                <a16:creationId xmlns:a16="http://schemas.microsoft.com/office/drawing/2014/main" id="{B122BEA4-19AA-4310-B5C0-4CFB7ED9B6F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FBACA9-6B36-4BB4-9925-3D43FC2F2908}"/>
              </a:ext>
            </a:extLst>
          </p:cNvPr>
          <p:cNvSpPr>
            <a:spLocks noGrp="1"/>
          </p:cNvSpPr>
          <p:nvPr>
            <p:ph type="sldNum" sz="quarter" idx="12"/>
          </p:nvPr>
        </p:nvSpPr>
        <p:spPr/>
        <p:txBody>
          <a:bodyPr/>
          <a:lstStyle/>
          <a:p>
            <a:fld id="{93609777-34DD-4107-AF86-3835043C5BE4}" type="slidenum">
              <a:rPr lang="en-US" smtClean="0"/>
              <a:t>‹#›</a:t>
            </a:fld>
            <a:endParaRPr lang="en-US"/>
          </a:p>
        </p:txBody>
      </p:sp>
    </p:spTree>
    <p:extLst>
      <p:ext uri="{BB962C8B-B14F-4D97-AF65-F5344CB8AC3E}">
        <p14:creationId xmlns:p14="http://schemas.microsoft.com/office/powerpoint/2010/main" val="26606272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F42E4-F3F5-4E99-BEE3-0213B74B0E5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24848D8-F5AA-4AD9-AAC2-A396FAA87F36}"/>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7E397F-DD4D-43DF-AA6B-5AFFADC41203}"/>
              </a:ext>
            </a:extLst>
          </p:cNvPr>
          <p:cNvSpPr>
            <a:spLocks noGrp="1"/>
          </p:cNvSpPr>
          <p:nvPr>
            <p:ph type="dt" sz="half" idx="10"/>
          </p:nvPr>
        </p:nvSpPr>
        <p:spPr/>
        <p:txBody>
          <a:bodyPr/>
          <a:lstStyle/>
          <a:p>
            <a:fld id="{B4C1DD64-AEAD-4385-8D05-50D414B38C6A}" type="datetimeFigureOut">
              <a:rPr lang="en-US" smtClean="0"/>
              <a:t>8/14/2018</a:t>
            </a:fld>
            <a:endParaRPr lang="en-US"/>
          </a:p>
        </p:txBody>
      </p:sp>
      <p:sp>
        <p:nvSpPr>
          <p:cNvPr id="5" name="Footer Placeholder 4">
            <a:extLst>
              <a:ext uri="{FF2B5EF4-FFF2-40B4-BE49-F238E27FC236}">
                <a16:creationId xmlns:a16="http://schemas.microsoft.com/office/drawing/2014/main" id="{23E2FB4F-B7B6-4E45-BDBE-FEDA9BA00C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D4580F-C82C-420E-AC9A-5228187D734E}"/>
              </a:ext>
            </a:extLst>
          </p:cNvPr>
          <p:cNvSpPr>
            <a:spLocks noGrp="1"/>
          </p:cNvSpPr>
          <p:nvPr>
            <p:ph type="sldNum" sz="quarter" idx="12"/>
          </p:nvPr>
        </p:nvSpPr>
        <p:spPr/>
        <p:txBody>
          <a:bodyPr/>
          <a:lstStyle/>
          <a:p>
            <a:fld id="{93609777-34DD-4107-AF86-3835043C5BE4}" type="slidenum">
              <a:rPr lang="en-US" smtClean="0"/>
              <a:t>‹#›</a:t>
            </a:fld>
            <a:endParaRPr lang="en-US"/>
          </a:p>
        </p:txBody>
      </p:sp>
    </p:spTree>
    <p:extLst>
      <p:ext uri="{BB962C8B-B14F-4D97-AF65-F5344CB8AC3E}">
        <p14:creationId xmlns:p14="http://schemas.microsoft.com/office/powerpoint/2010/main" val="17157735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BC0E4D-F729-4641-9FAC-E1CC1F8976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630EBFC-7F09-4B2F-BD80-71AB8C048361}"/>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4CAA21-9273-4085-ABE6-BE18E3C8E85C}"/>
              </a:ext>
            </a:extLst>
          </p:cNvPr>
          <p:cNvSpPr>
            <a:spLocks noGrp="1"/>
          </p:cNvSpPr>
          <p:nvPr>
            <p:ph type="dt" sz="half" idx="10"/>
          </p:nvPr>
        </p:nvSpPr>
        <p:spPr/>
        <p:txBody>
          <a:bodyPr/>
          <a:lstStyle/>
          <a:p>
            <a:fld id="{B4C1DD64-AEAD-4385-8D05-50D414B38C6A}" type="datetimeFigureOut">
              <a:rPr lang="en-US" smtClean="0"/>
              <a:t>8/14/2018</a:t>
            </a:fld>
            <a:endParaRPr lang="en-US"/>
          </a:p>
        </p:txBody>
      </p:sp>
      <p:sp>
        <p:nvSpPr>
          <p:cNvPr id="5" name="Footer Placeholder 4">
            <a:extLst>
              <a:ext uri="{FF2B5EF4-FFF2-40B4-BE49-F238E27FC236}">
                <a16:creationId xmlns:a16="http://schemas.microsoft.com/office/drawing/2014/main" id="{E6F46AE6-B87E-43F1-827C-4D9EECBB48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D8A007-5CAF-48FA-ABBD-B248E51B2F14}"/>
              </a:ext>
            </a:extLst>
          </p:cNvPr>
          <p:cNvSpPr>
            <a:spLocks noGrp="1"/>
          </p:cNvSpPr>
          <p:nvPr>
            <p:ph type="sldNum" sz="quarter" idx="12"/>
          </p:nvPr>
        </p:nvSpPr>
        <p:spPr/>
        <p:txBody>
          <a:bodyPr/>
          <a:lstStyle/>
          <a:p>
            <a:fld id="{93609777-34DD-4107-AF86-3835043C5BE4}" type="slidenum">
              <a:rPr lang="en-US" smtClean="0"/>
              <a:t>‹#›</a:t>
            </a:fld>
            <a:endParaRPr lang="en-US"/>
          </a:p>
        </p:txBody>
      </p:sp>
    </p:spTree>
    <p:extLst>
      <p:ext uri="{BB962C8B-B14F-4D97-AF65-F5344CB8AC3E}">
        <p14:creationId xmlns:p14="http://schemas.microsoft.com/office/powerpoint/2010/main" val="7744156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89DF4CE-A93D-4A10-B74F-0B8F3A6C649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25CC73E-28CC-4ACF-B183-5E9D2B2F1BC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28E466-17C0-4581-8783-F21F95D256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C1DD64-AEAD-4385-8D05-50D414B38C6A}" type="datetimeFigureOut">
              <a:rPr lang="en-US" smtClean="0"/>
              <a:t>8/14/2018</a:t>
            </a:fld>
            <a:endParaRPr lang="en-US"/>
          </a:p>
        </p:txBody>
      </p:sp>
      <p:sp>
        <p:nvSpPr>
          <p:cNvPr id="5" name="Footer Placeholder 4">
            <a:extLst>
              <a:ext uri="{FF2B5EF4-FFF2-40B4-BE49-F238E27FC236}">
                <a16:creationId xmlns:a16="http://schemas.microsoft.com/office/drawing/2014/main" id="{9FF14C86-F0B9-403B-A688-922D2DE2FC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2BCBA38-6BCA-4ED1-9FCC-AFC7D50900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609777-34DD-4107-AF86-3835043C5BE4}" type="slidenum">
              <a:rPr lang="en-US" smtClean="0"/>
              <a:t>‹#›</a:t>
            </a:fld>
            <a:endParaRPr lang="en-US"/>
          </a:p>
        </p:txBody>
      </p:sp>
    </p:spTree>
    <p:extLst>
      <p:ext uri="{BB962C8B-B14F-4D97-AF65-F5344CB8AC3E}">
        <p14:creationId xmlns:p14="http://schemas.microsoft.com/office/powerpoint/2010/main" val="12535357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e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1.jpeg"/></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4.jpeg"/></Relationships>
</file>

<file path=ppt/slides/_rels/slide11.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JP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7.JPG"/></Relationships>
</file>

<file path=ppt/slides/_rels/slide1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21.jpg"/><Relationship Id="rId4" Type="http://schemas.openxmlformats.org/officeDocument/2006/relationships/image" Target="../media/image20.jpeg"/></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4.xml"/><Relationship Id="rId6" Type="http://schemas.openxmlformats.org/officeDocument/2006/relationships/image" Target="../media/image2.png"/><Relationship Id="rId5" Type="http://schemas.openxmlformats.org/officeDocument/2006/relationships/image" Target="../media/image28.jpeg"/><Relationship Id="rId4" Type="http://schemas.openxmlformats.org/officeDocument/2006/relationships/image" Target="../media/image27.jpeg"/></Relationships>
</file>

<file path=ppt/slides/_rels/slide18.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2.xml"/><Relationship Id="rId6" Type="http://schemas.openxmlformats.org/officeDocument/2006/relationships/image" Target="../media/image32.jpg"/><Relationship Id="rId5" Type="http://schemas.openxmlformats.org/officeDocument/2006/relationships/image" Target="../media/image2.png"/><Relationship Id="rId4" Type="http://schemas.openxmlformats.org/officeDocument/2006/relationships/image" Target="../media/image31.jpeg"/></Relationships>
</file>

<file path=ppt/slides/_rels/slide19.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image" Target="../media/image33.jp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35.jpeg"/></Relationships>
</file>

<file path=ppt/slides/_rels/slide20.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jpg"/><Relationship Id="rId1" Type="http://schemas.openxmlformats.org/officeDocument/2006/relationships/slideLayout" Target="../slideLayouts/slideLayout2.xml"/><Relationship Id="rId6" Type="http://schemas.openxmlformats.org/officeDocument/2006/relationships/image" Target="../media/image39.jpg"/><Relationship Id="rId5" Type="http://schemas.openxmlformats.org/officeDocument/2006/relationships/image" Target="../media/image2.png"/><Relationship Id="rId4" Type="http://schemas.openxmlformats.org/officeDocument/2006/relationships/image" Target="../media/image38.jp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0.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kairali presentation-0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86538"/>
          </a:xfrm>
          <a:prstGeom prst="rect">
            <a:avLst/>
          </a:prstGeom>
        </p:spPr>
      </p:pic>
      <p:sp>
        <p:nvSpPr>
          <p:cNvPr id="6" name="Rectangle 5"/>
          <p:cNvSpPr/>
          <p:nvPr/>
        </p:nvSpPr>
        <p:spPr>
          <a:xfrm>
            <a:off x="5307495" y="1827648"/>
            <a:ext cx="4572000" cy="3570208"/>
          </a:xfrm>
          <a:prstGeom prst="rect">
            <a:avLst/>
          </a:prstGeom>
        </p:spPr>
        <p:txBody>
          <a:bodyPr>
            <a:spAutoFit/>
          </a:bodyPr>
          <a:lstStyle/>
          <a:p>
            <a:r>
              <a:rPr lang="en-US" sz="3200" b="1" dirty="0">
                <a:solidFill>
                  <a:schemeClr val="bg2">
                    <a:lumMod val="25000"/>
                  </a:schemeClr>
                </a:solidFill>
                <a:latin typeface="Avenir Book"/>
                <a:cs typeface="Avenir Book"/>
              </a:rPr>
              <a:t>Kairali – The Ayurvedic Healing Village (KTAHV)</a:t>
            </a:r>
          </a:p>
          <a:p>
            <a:r>
              <a:rPr lang="en-US" sz="5400" b="1" dirty="0">
                <a:solidFill>
                  <a:schemeClr val="bg2">
                    <a:lumMod val="25000"/>
                  </a:schemeClr>
                </a:solidFill>
                <a:latin typeface="Avenir Book"/>
                <a:cs typeface="Avenir Book"/>
              </a:rPr>
              <a:t>Presentation</a:t>
            </a:r>
          </a:p>
          <a:p>
            <a:r>
              <a:rPr lang="en-US" sz="5400" b="1" dirty="0">
                <a:solidFill>
                  <a:schemeClr val="bg2">
                    <a:lumMod val="25000"/>
                  </a:schemeClr>
                </a:solidFill>
                <a:latin typeface="Avenir Book"/>
                <a:cs typeface="Avenir Book"/>
              </a:rPr>
              <a:t>2018</a:t>
            </a:r>
          </a:p>
          <a:p>
            <a:endParaRPr lang="en-US" sz="5400" b="1" dirty="0">
              <a:solidFill>
                <a:schemeClr val="bg2">
                  <a:lumMod val="25000"/>
                </a:schemeClr>
              </a:solidFill>
              <a:latin typeface="Avenir Book"/>
              <a:cs typeface="Avenir Book"/>
            </a:endParaRPr>
          </a:p>
        </p:txBody>
      </p:sp>
    </p:spTree>
    <p:extLst>
      <p:ext uri="{BB962C8B-B14F-4D97-AF65-F5344CB8AC3E}">
        <p14:creationId xmlns:p14="http://schemas.microsoft.com/office/powerpoint/2010/main" val="9369782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3"/>
          <p:cNvGrpSpPr/>
          <p:nvPr/>
        </p:nvGrpSpPr>
        <p:grpSpPr>
          <a:xfrm>
            <a:off x="1939710" y="651068"/>
            <a:ext cx="9947489" cy="6054532"/>
            <a:chOff x="0" y="808382"/>
            <a:chExt cx="9571412" cy="5768186"/>
          </a:xfrm>
        </p:grpSpPr>
        <p:sp>
          <p:nvSpPr>
            <p:cNvPr id="5" name="Rectangle 4"/>
            <p:cNvSpPr/>
            <p:nvPr/>
          </p:nvSpPr>
          <p:spPr>
            <a:xfrm>
              <a:off x="0" y="808383"/>
              <a:ext cx="1073426" cy="251791"/>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40000"/>
                    <a:lumOff val="60000"/>
                  </a:schemeClr>
                </a:solidFill>
              </a:endParaRPr>
            </a:p>
          </p:txBody>
        </p:sp>
        <p:sp>
          <p:nvSpPr>
            <p:cNvPr id="6" name="Rectangle 5"/>
            <p:cNvSpPr/>
            <p:nvPr/>
          </p:nvSpPr>
          <p:spPr>
            <a:xfrm>
              <a:off x="1186070" y="808382"/>
              <a:ext cx="7957930" cy="251792"/>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latin typeface="Avenir Book"/>
                </a:rPr>
                <a:t>Kairali Ayurvedic Group</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91476" y="5682259"/>
              <a:ext cx="923783" cy="566139"/>
            </a:xfrm>
            <a:prstGeom prst="rect">
              <a:avLst/>
            </a:prstGeom>
          </p:spPr>
        </p:pic>
        <p:sp>
          <p:nvSpPr>
            <p:cNvPr id="8" name="Rectangle 7"/>
            <p:cNvSpPr/>
            <p:nvPr/>
          </p:nvSpPr>
          <p:spPr>
            <a:xfrm>
              <a:off x="5738191" y="6361043"/>
              <a:ext cx="3833221" cy="215525"/>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rPr>
                <a:t>KTAHV 2017				1</a:t>
              </a:r>
            </a:p>
          </p:txBody>
        </p:sp>
      </p:grpSp>
      <p:sp>
        <p:nvSpPr>
          <p:cNvPr id="15" name="object 2">
            <a:extLst>
              <a:ext uri="{FF2B5EF4-FFF2-40B4-BE49-F238E27FC236}">
                <a16:creationId xmlns:a16="http://schemas.microsoft.com/office/drawing/2014/main" id="{CAEF1F41-993C-4BCF-B286-96DFE768862F}"/>
              </a:ext>
            </a:extLst>
          </p:cNvPr>
          <p:cNvSpPr/>
          <p:nvPr/>
        </p:nvSpPr>
        <p:spPr>
          <a:xfrm>
            <a:off x="4850297" y="1324938"/>
            <a:ext cx="6930886" cy="4357321"/>
          </a:xfrm>
          <a:prstGeom prst="rect">
            <a:avLst/>
          </a:prstGeom>
          <a:blipFill>
            <a:blip r:embed="rId3" cstate="email">
              <a:extLst>
                <a:ext uri="{28A0092B-C50C-407E-A947-70E740481C1C}">
                  <a14:useLocalDpi xmlns:a14="http://schemas.microsoft.com/office/drawing/2010/main"/>
                </a:ext>
              </a:extLst>
            </a:blip>
            <a:stretch>
              <a:fillRect/>
            </a:stretch>
          </a:blipFill>
        </p:spPr>
        <p:txBody>
          <a:bodyPr wrap="square" lIns="0" tIns="0" rIns="0" bIns="0" rtlCol="0"/>
          <a:lstStyle/>
          <a:p>
            <a:endParaRPr sz="1632"/>
          </a:p>
        </p:txBody>
      </p:sp>
      <p:sp>
        <p:nvSpPr>
          <p:cNvPr id="16" name="object 7">
            <a:extLst>
              <a:ext uri="{FF2B5EF4-FFF2-40B4-BE49-F238E27FC236}">
                <a16:creationId xmlns:a16="http://schemas.microsoft.com/office/drawing/2014/main" id="{EA0DEEB0-7F60-4C6D-AEA8-7885EAD033E4}"/>
              </a:ext>
            </a:extLst>
          </p:cNvPr>
          <p:cNvSpPr/>
          <p:nvPr/>
        </p:nvSpPr>
        <p:spPr>
          <a:xfrm>
            <a:off x="662610" y="1272906"/>
            <a:ext cx="5433390" cy="4409353"/>
          </a:xfrm>
          <a:custGeom>
            <a:avLst/>
            <a:gdLst/>
            <a:ahLst/>
            <a:cxnLst/>
            <a:rect l="l" t="t" r="r" b="b"/>
            <a:pathLst>
              <a:path w="3429000" h="6645909">
                <a:moveTo>
                  <a:pt x="0" y="6645605"/>
                </a:moveTo>
                <a:lnTo>
                  <a:pt x="3429000" y="6645605"/>
                </a:lnTo>
                <a:lnTo>
                  <a:pt x="3429000" y="0"/>
                </a:lnTo>
                <a:lnTo>
                  <a:pt x="0" y="0"/>
                </a:lnTo>
                <a:lnTo>
                  <a:pt x="0" y="6645605"/>
                </a:lnTo>
                <a:close/>
              </a:path>
            </a:pathLst>
          </a:custGeom>
          <a:solidFill>
            <a:srgbClr val="EEB41E">
              <a:alpha val="89999"/>
            </a:srgbClr>
          </a:solidFill>
        </p:spPr>
        <p:txBody>
          <a:bodyPr wrap="square" lIns="0" tIns="0" rIns="0" bIns="0" rtlCol="0"/>
          <a:lstStyle/>
          <a:p>
            <a:endParaRPr sz="1632" dirty="0">
              <a:latin typeface="+mj-lt"/>
            </a:endParaRPr>
          </a:p>
        </p:txBody>
      </p:sp>
      <p:sp>
        <p:nvSpPr>
          <p:cNvPr id="17" name="object 14">
            <a:extLst>
              <a:ext uri="{FF2B5EF4-FFF2-40B4-BE49-F238E27FC236}">
                <a16:creationId xmlns:a16="http://schemas.microsoft.com/office/drawing/2014/main" id="{5B579E3B-BADD-449F-BE86-0EAF045A1590}"/>
              </a:ext>
            </a:extLst>
          </p:cNvPr>
          <p:cNvSpPr txBox="1"/>
          <p:nvPr/>
        </p:nvSpPr>
        <p:spPr>
          <a:xfrm>
            <a:off x="808564" y="1558791"/>
            <a:ext cx="4727638" cy="3889613"/>
          </a:xfrm>
          <a:prstGeom prst="rect">
            <a:avLst/>
          </a:prstGeom>
        </p:spPr>
        <p:txBody>
          <a:bodyPr vert="horz" wrap="square" lIns="0" tIns="11516" rIns="0" bIns="0" rtlCol="0">
            <a:spAutoFit/>
          </a:bodyPr>
          <a:lstStyle/>
          <a:p>
            <a:pPr algn="just"/>
            <a:r>
              <a:rPr lang="en-IN" dirty="0"/>
              <a:t>Kairali Ayurvedic Group, the pioneers in Authentic Ayurvedic services and products, have created a niche for themselves in the Wellness industry. Kairali is one of the largest Ayurvedic Group with presence in over 25 locations worldwide. The Group has over 10 decades of experience in practice of Ayurveda, and has inherited the true spirit of Ayurveda from its fore fathers. Our Philosophy is to propagate Ayurveda and its practices for well-being of human kind.</a:t>
            </a:r>
          </a:p>
          <a:p>
            <a:pPr algn="just"/>
            <a:endParaRPr lang="en-IN" dirty="0"/>
          </a:p>
          <a:p>
            <a:pPr algn="just"/>
            <a:r>
              <a:rPr lang="en-IN" dirty="0"/>
              <a:t>Kairali has given the holistic touch of</a:t>
            </a:r>
          </a:p>
          <a:p>
            <a:pPr algn="just"/>
            <a:r>
              <a:rPr lang="en-IN" dirty="0"/>
              <a:t>Ayurveda boundless wings, earning itself the trust, confidence and loyalty of its clients globally.</a:t>
            </a:r>
            <a:endParaRPr sz="1600" dirty="0">
              <a:cs typeface="Noto Serif"/>
            </a:endParaRPr>
          </a:p>
        </p:txBody>
      </p:sp>
      <p:sp>
        <p:nvSpPr>
          <p:cNvPr id="11" name="Rectangle 10">
            <a:extLst>
              <a:ext uri="{FF2B5EF4-FFF2-40B4-BE49-F238E27FC236}">
                <a16:creationId xmlns:a16="http://schemas.microsoft.com/office/drawing/2014/main" id="{143C4DE8-0FB5-4A1F-99D5-E4A1EB2B7F76}"/>
              </a:ext>
            </a:extLst>
          </p:cNvPr>
          <p:cNvSpPr/>
          <p:nvPr/>
        </p:nvSpPr>
        <p:spPr>
          <a:xfrm>
            <a:off x="0" y="624118"/>
            <a:ext cx="12192000" cy="346484"/>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latin typeface="Avenir Book"/>
              </a:rPr>
              <a:t>Kairali Ayurvedic Group</a:t>
            </a:r>
          </a:p>
        </p:txBody>
      </p:sp>
    </p:spTree>
    <p:extLst>
      <p:ext uri="{BB962C8B-B14F-4D97-AF65-F5344CB8AC3E}">
        <p14:creationId xmlns:p14="http://schemas.microsoft.com/office/powerpoint/2010/main" val="553617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a:xfrm>
            <a:off x="6142384" y="0"/>
            <a:ext cx="5214729" cy="6858000"/>
          </a:xfrm>
          <a:prstGeom prst="rect">
            <a:avLst/>
          </a:prstGeom>
          <a:solidFill>
            <a:schemeClr val="accent3">
              <a:lumMod val="20000"/>
              <a:lumOff val="80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b="1" dirty="0">
                <a:solidFill>
                  <a:schemeClr val="bg2">
                    <a:lumMod val="50000"/>
                  </a:schemeClr>
                </a:solidFill>
                <a:latin typeface="Lato Heavy Italic"/>
                <a:ea typeface="Kozuka Gothic Pr6N L" panose="020B0200000000000000" pitchFamily="34" charset="-128"/>
                <a:cs typeface="Laila" panose="02000000000000000000" pitchFamily="2" charset="0"/>
              </a:rPr>
              <a:t>Kairali Ayurvedic Group</a:t>
            </a:r>
            <a:r>
              <a:rPr lang="en-US" sz="1400" dirty="0">
                <a:solidFill>
                  <a:schemeClr val="bg2">
                    <a:lumMod val="50000"/>
                  </a:schemeClr>
                </a:solidFill>
                <a:latin typeface="Lato Heavy Italic"/>
                <a:ea typeface="Kozuka Gothic Pr6N L" panose="020B0200000000000000" pitchFamily="34" charset="-128"/>
                <a:cs typeface="Laila" panose="02000000000000000000" pitchFamily="2" charset="0"/>
              </a:rPr>
              <a:t> </a:t>
            </a:r>
            <a:r>
              <a:rPr lang="en-US" sz="1600" dirty="0">
                <a:solidFill>
                  <a:schemeClr val="bg2">
                    <a:lumMod val="50000"/>
                  </a:schemeClr>
                </a:solidFill>
                <a:latin typeface="Lato Heavy Italic"/>
                <a:ea typeface="Kozuka Gothic Pr6N L" panose="020B0200000000000000" pitchFamily="34" charset="-128"/>
                <a:cs typeface="Laila" panose="02000000000000000000" pitchFamily="2" charset="0"/>
              </a:rPr>
              <a:t>is one of the largest Ayurvedic Group </a:t>
            </a:r>
            <a:r>
              <a:rPr lang="en-IN" sz="1600" dirty="0">
                <a:solidFill>
                  <a:schemeClr val="bg2">
                    <a:lumMod val="50000"/>
                  </a:schemeClr>
                </a:solidFill>
                <a:latin typeface="Lato Heavy Italic"/>
                <a:ea typeface="Kozuka Gothic Pr6N L" panose="020B0200000000000000" pitchFamily="34" charset="-128"/>
                <a:cs typeface="Laila" panose="02000000000000000000" pitchFamily="2" charset="0"/>
              </a:rPr>
              <a:t>with </a:t>
            </a:r>
            <a:r>
              <a:rPr lang="en-IN" sz="1600" b="1" dirty="0">
                <a:solidFill>
                  <a:schemeClr val="bg2">
                    <a:lumMod val="50000"/>
                  </a:schemeClr>
                </a:solidFill>
                <a:latin typeface="Lato Heavy Italic"/>
                <a:ea typeface="Kozuka Gothic Pr6N L" panose="020B0200000000000000" pitchFamily="34" charset="-128"/>
                <a:cs typeface="Laila" panose="02000000000000000000" pitchFamily="2" charset="0"/>
              </a:rPr>
              <a:t>over 25 locations worldwide</a:t>
            </a:r>
            <a:r>
              <a:rPr lang="en-IN" sz="1600" dirty="0">
                <a:solidFill>
                  <a:schemeClr val="bg2">
                    <a:lumMod val="50000"/>
                  </a:schemeClr>
                </a:solidFill>
                <a:latin typeface="Lato Heavy Italic"/>
                <a:ea typeface="Kozuka Gothic Pr6N L" panose="020B0200000000000000" pitchFamily="34" charset="-128"/>
                <a:cs typeface="Laila" panose="02000000000000000000" pitchFamily="2" charset="0"/>
              </a:rPr>
              <a:t> </a:t>
            </a:r>
            <a:r>
              <a:rPr lang="en-US" sz="1600" dirty="0">
                <a:solidFill>
                  <a:schemeClr val="bg2">
                    <a:lumMod val="50000"/>
                  </a:schemeClr>
                </a:solidFill>
                <a:latin typeface="Lato Heavy Italic"/>
                <a:ea typeface="Kozuka Gothic Pr6N L" panose="020B0200000000000000" pitchFamily="34" charset="-128"/>
                <a:cs typeface="Laila" panose="02000000000000000000" pitchFamily="2" charset="0"/>
              </a:rPr>
              <a:t>and has inherited the true spirit of Ayurveda from its fore fathers. </a:t>
            </a:r>
          </a:p>
          <a:p>
            <a:pPr marL="285750" indent="-285750">
              <a:buFont typeface="Arial" panose="020B0604020202020204" pitchFamily="34" charset="0"/>
              <a:buChar char="•"/>
            </a:pPr>
            <a:endParaRPr lang="en-US" sz="1600" dirty="0">
              <a:solidFill>
                <a:schemeClr val="bg2">
                  <a:lumMod val="50000"/>
                </a:schemeClr>
              </a:solidFill>
              <a:latin typeface="Lato Heavy Italic"/>
              <a:ea typeface="Kozuka Gothic Pr6N L" panose="020B0200000000000000" pitchFamily="34" charset="-128"/>
              <a:cs typeface="Laila" panose="02000000000000000000" pitchFamily="2" charset="0"/>
            </a:endParaRPr>
          </a:p>
          <a:p>
            <a:pPr marL="285750" indent="-285750">
              <a:buFont typeface="Arial" panose="020B0604020202020204" pitchFamily="34" charset="0"/>
              <a:buChar char="•"/>
            </a:pPr>
            <a:r>
              <a:rPr lang="en-US" sz="1600" dirty="0">
                <a:solidFill>
                  <a:schemeClr val="bg2">
                    <a:lumMod val="50000"/>
                  </a:schemeClr>
                </a:solidFill>
                <a:latin typeface="Lato Heavy Italic"/>
                <a:ea typeface="Kozuka Gothic Pr6N L" panose="020B0200000000000000" pitchFamily="34" charset="-128"/>
                <a:cs typeface="Laila" panose="02000000000000000000" pitchFamily="2" charset="0"/>
              </a:rPr>
              <a:t>The Group has over </a:t>
            </a:r>
            <a:r>
              <a:rPr lang="en-US" sz="1600" b="1" dirty="0">
                <a:solidFill>
                  <a:schemeClr val="bg2">
                    <a:lumMod val="50000"/>
                  </a:schemeClr>
                </a:solidFill>
                <a:latin typeface="Lato Heavy Italic"/>
                <a:ea typeface="Kozuka Gothic Pr6N L" panose="020B0200000000000000" pitchFamily="34" charset="-128"/>
                <a:cs typeface="Laila" panose="02000000000000000000" pitchFamily="2" charset="0"/>
              </a:rPr>
              <a:t>10 decades of experience </a:t>
            </a:r>
            <a:r>
              <a:rPr lang="en-US" sz="1600" dirty="0">
                <a:solidFill>
                  <a:schemeClr val="bg2">
                    <a:lumMod val="50000"/>
                  </a:schemeClr>
                </a:solidFill>
                <a:latin typeface="Lato Heavy Italic"/>
                <a:ea typeface="Kozuka Gothic Pr6N L" panose="020B0200000000000000" pitchFamily="34" charset="-128"/>
                <a:cs typeface="Laila" panose="02000000000000000000" pitchFamily="2" charset="0"/>
              </a:rPr>
              <a:t>in practice of Ayurveda and production. Kairali has a reputed business record in manufacturing and marketing of Ayurvedic products globally.</a:t>
            </a:r>
            <a:br>
              <a:rPr lang="en-US" sz="1600" dirty="0">
                <a:solidFill>
                  <a:schemeClr val="bg2">
                    <a:lumMod val="50000"/>
                  </a:schemeClr>
                </a:solidFill>
                <a:latin typeface="Lato Heavy Italic"/>
                <a:ea typeface="Kozuka Gothic Pr6N L" panose="020B0200000000000000" pitchFamily="34" charset="-128"/>
                <a:cs typeface="Laila" panose="02000000000000000000" pitchFamily="2" charset="0"/>
              </a:rPr>
            </a:br>
            <a:endParaRPr lang="en-US" sz="1600" dirty="0">
              <a:solidFill>
                <a:schemeClr val="bg2">
                  <a:lumMod val="50000"/>
                </a:schemeClr>
              </a:solidFill>
            </a:endParaRPr>
          </a:p>
        </p:txBody>
      </p:sp>
      <p:pic>
        <p:nvPicPr>
          <p:cNvPr id="10" name="Picture 9"/>
          <p:cNvPicPr>
            <a:picLocks noChangeAspect="1"/>
          </p:cNvPicPr>
          <p:nvPr/>
        </p:nvPicPr>
        <p:blipFill rotWithShape="1">
          <a:blip r:embed="rId2" cstate="print">
            <a:extLst>
              <a:ext uri="{28A0092B-C50C-407E-A947-70E740481C1C}">
                <a14:useLocalDpi xmlns:a14="http://schemas.microsoft.com/office/drawing/2010/main" val="0"/>
              </a:ext>
            </a:extLst>
          </a:blip>
          <a:srcRect l="6104" r="5673"/>
          <a:stretch/>
        </p:blipFill>
        <p:spPr>
          <a:xfrm>
            <a:off x="1608302" y="1580076"/>
            <a:ext cx="2285705" cy="2503004"/>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sp>
        <p:nvSpPr>
          <p:cNvPr id="11" name="TextBox 10"/>
          <p:cNvSpPr txBox="1"/>
          <p:nvPr/>
        </p:nvSpPr>
        <p:spPr>
          <a:xfrm>
            <a:off x="1058977" y="4138565"/>
            <a:ext cx="3302186" cy="461665"/>
          </a:xfrm>
          <a:prstGeom prst="rect">
            <a:avLst/>
          </a:prstGeom>
          <a:noFill/>
        </p:spPr>
        <p:txBody>
          <a:bodyPr wrap="square" rtlCol="0">
            <a:spAutoFit/>
          </a:bodyPr>
          <a:lstStyle/>
          <a:p>
            <a:pPr algn="ctr"/>
            <a:r>
              <a:rPr lang="en-US" sz="1200" dirty="0">
                <a:solidFill>
                  <a:schemeClr val="bg2">
                    <a:lumMod val="50000"/>
                  </a:schemeClr>
                </a:solidFill>
                <a:latin typeface="Lato Heavy Italic"/>
              </a:rPr>
              <a:t>Exe. Director of Kairali Ayurvedic Group</a:t>
            </a:r>
          </a:p>
          <a:p>
            <a:pPr algn="ctr"/>
            <a:r>
              <a:rPr lang="en-US" sz="1200" dirty="0">
                <a:solidFill>
                  <a:schemeClr val="bg2">
                    <a:lumMod val="50000"/>
                  </a:schemeClr>
                </a:solidFill>
                <a:latin typeface="Lato Heavy Italic"/>
              </a:rPr>
              <a:t>Mr. Abhilash Ramesh </a:t>
            </a:r>
          </a:p>
        </p:txBody>
      </p:sp>
      <p:sp>
        <p:nvSpPr>
          <p:cNvPr id="12" name="TextBox 11"/>
          <p:cNvSpPr txBox="1"/>
          <p:nvPr/>
        </p:nvSpPr>
        <p:spPr>
          <a:xfrm>
            <a:off x="397564" y="4599885"/>
            <a:ext cx="5075586" cy="1477328"/>
          </a:xfrm>
          <a:prstGeom prst="rect">
            <a:avLst/>
          </a:prstGeom>
          <a:noFill/>
        </p:spPr>
        <p:txBody>
          <a:bodyPr wrap="square" rtlCol="0">
            <a:spAutoFit/>
          </a:bodyPr>
          <a:lstStyle/>
          <a:p>
            <a:r>
              <a:rPr lang="en-US" b="1" dirty="0">
                <a:solidFill>
                  <a:schemeClr val="bg2">
                    <a:lumMod val="50000"/>
                  </a:schemeClr>
                </a:solidFill>
                <a:latin typeface="Lato Heavy Italic"/>
              </a:rPr>
              <a:t>The Group Director Mr. Abhilash Ramesh </a:t>
            </a:r>
            <a:r>
              <a:rPr lang="en-US" dirty="0">
                <a:solidFill>
                  <a:schemeClr val="bg2">
                    <a:lumMod val="50000"/>
                  </a:schemeClr>
                </a:solidFill>
                <a:latin typeface="Lato Heavy Italic"/>
              </a:rPr>
              <a:t>Under the Hospitality division, manage the Flagship property Kairali – The Ayurvedic Healing Village (KTAHV) along with the  Vertical Kairali Ayurvedic Products Pvt. Ltd. (KAPPL).   </a:t>
            </a:r>
          </a:p>
        </p:txBody>
      </p:sp>
      <p:sp>
        <p:nvSpPr>
          <p:cNvPr id="15" name="Rectangle 14">
            <a:extLst>
              <a:ext uri="{FF2B5EF4-FFF2-40B4-BE49-F238E27FC236}">
                <a16:creationId xmlns:a16="http://schemas.microsoft.com/office/drawing/2014/main" id="{7828AEA4-D265-4270-9CDE-4E034EB5661E}"/>
              </a:ext>
            </a:extLst>
          </p:cNvPr>
          <p:cNvSpPr/>
          <p:nvPr/>
        </p:nvSpPr>
        <p:spPr>
          <a:xfrm>
            <a:off x="0" y="695736"/>
            <a:ext cx="12192000" cy="364438"/>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latin typeface="Avenir Book"/>
              </a:rPr>
              <a:t>Kairali Ayurveda Group</a:t>
            </a:r>
          </a:p>
        </p:txBody>
      </p:sp>
      <p:sp>
        <p:nvSpPr>
          <p:cNvPr id="17" name="Rectangle 16">
            <a:extLst>
              <a:ext uri="{FF2B5EF4-FFF2-40B4-BE49-F238E27FC236}">
                <a16:creationId xmlns:a16="http://schemas.microsoft.com/office/drawing/2014/main" id="{1CCAD126-3045-4F65-86C2-FCE8ECE18836}"/>
              </a:ext>
            </a:extLst>
          </p:cNvPr>
          <p:cNvSpPr/>
          <p:nvPr/>
        </p:nvSpPr>
        <p:spPr>
          <a:xfrm>
            <a:off x="7752522" y="6361043"/>
            <a:ext cx="3949148" cy="251791"/>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rPr>
              <a:t>KTAHV 2017				2</a:t>
            </a:r>
          </a:p>
        </p:txBody>
      </p:sp>
      <p:pic>
        <p:nvPicPr>
          <p:cNvPr id="18" name="Picture 17">
            <a:extLst>
              <a:ext uri="{FF2B5EF4-FFF2-40B4-BE49-F238E27FC236}">
                <a16:creationId xmlns:a16="http://schemas.microsoft.com/office/drawing/2014/main" id="{85430624-3123-4F95-A54C-5C5B4608EF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84103" y="5735271"/>
            <a:ext cx="923783" cy="566139"/>
          </a:xfrm>
          <a:prstGeom prst="rect">
            <a:avLst/>
          </a:prstGeom>
        </p:spPr>
      </p:pic>
    </p:spTree>
    <p:extLst>
      <p:ext uri="{BB962C8B-B14F-4D97-AF65-F5344CB8AC3E}">
        <p14:creationId xmlns:p14="http://schemas.microsoft.com/office/powerpoint/2010/main" val="3280461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1524000" y="808383"/>
            <a:ext cx="9823641" cy="5817703"/>
            <a:chOff x="0" y="808382"/>
            <a:chExt cx="9823641" cy="5817703"/>
          </a:xfrm>
        </p:grpSpPr>
        <p:sp>
          <p:nvSpPr>
            <p:cNvPr id="5" name="Rectangle 4"/>
            <p:cNvSpPr/>
            <p:nvPr/>
          </p:nvSpPr>
          <p:spPr>
            <a:xfrm>
              <a:off x="0" y="808383"/>
              <a:ext cx="1073426" cy="251791"/>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40000"/>
                    <a:lumOff val="60000"/>
                  </a:schemeClr>
                </a:solidFill>
              </a:endParaRPr>
            </a:p>
          </p:txBody>
        </p:sp>
        <p:sp>
          <p:nvSpPr>
            <p:cNvPr id="6" name="Rectangle 5"/>
            <p:cNvSpPr/>
            <p:nvPr/>
          </p:nvSpPr>
          <p:spPr>
            <a:xfrm>
              <a:off x="1186070" y="808382"/>
              <a:ext cx="7957930" cy="251792"/>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latin typeface="Avenir Book"/>
                </a:rPr>
                <a:t>Kairali – The Ayurvedic Healing Village</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91476" y="5682259"/>
              <a:ext cx="923783" cy="566139"/>
            </a:xfrm>
            <a:prstGeom prst="rect">
              <a:avLst/>
            </a:prstGeom>
          </p:spPr>
        </p:pic>
        <p:sp>
          <p:nvSpPr>
            <p:cNvPr id="8" name="Rectangle 7"/>
            <p:cNvSpPr/>
            <p:nvPr/>
          </p:nvSpPr>
          <p:spPr>
            <a:xfrm>
              <a:off x="5738191" y="6361042"/>
              <a:ext cx="4085450" cy="265043"/>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rPr>
                <a:t>KTAHV 2017				3</a:t>
              </a:r>
            </a:p>
          </p:txBody>
        </p:sp>
      </p:grpSp>
      <p:sp>
        <p:nvSpPr>
          <p:cNvPr id="3" name="Content Placeholder 2"/>
          <p:cNvSpPr>
            <a:spLocks noGrp="1"/>
          </p:cNvSpPr>
          <p:nvPr>
            <p:ph sz="half" idx="1"/>
          </p:nvPr>
        </p:nvSpPr>
        <p:spPr>
          <a:xfrm>
            <a:off x="0" y="1454564"/>
            <a:ext cx="4814320" cy="4707700"/>
          </a:xfrm>
        </p:spPr>
        <p:txBody>
          <a:bodyPr>
            <a:normAutofit/>
          </a:bodyPr>
          <a:lstStyle/>
          <a:p>
            <a:pPr marL="0" indent="0">
              <a:buNone/>
            </a:pPr>
            <a:endParaRPr lang="en-US" sz="1800" dirty="0">
              <a:solidFill>
                <a:schemeClr val="bg2">
                  <a:lumMod val="50000"/>
                </a:schemeClr>
              </a:solidFill>
              <a:latin typeface="Lato Heavy Italic"/>
            </a:endParaRPr>
          </a:p>
          <a:p>
            <a:pPr marL="0" indent="0">
              <a:buNone/>
            </a:pPr>
            <a:r>
              <a:rPr lang="en-US" sz="1800" b="1" dirty="0">
                <a:solidFill>
                  <a:schemeClr val="bg2">
                    <a:lumMod val="50000"/>
                  </a:schemeClr>
                </a:solidFill>
                <a:latin typeface="Lato Heavy Italic"/>
              </a:rPr>
              <a:t>The Ayurvedic Healing Village </a:t>
            </a:r>
            <a:r>
              <a:rPr lang="en-US" sz="1800" dirty="0">
                <a:solidFill>
                  <a:schemeClr val="bg2">
                    <a:lumMod val="50000"/>
                  </a:schemeClr>
                </a:solidFill>
                <a:latin typeface="Lato Heavy Italic"/>
              </a:rPr>
              <a:t>is situated in Palakkad, between Kerala and Tamil Nadu. An ideal place to be with nature and rejuvenate with natural medicine in the sweet scented forests of Kerala’s Pala trees. </a:t>
            </a:r>
          </a:p>
          <a:p>
            <a:pPr marL="0" indent="0">
              <a:buNone/>
            </a:pPr>
            <a:r>
              <a:rPr lang="en-US" sz="1800" dirty="0">
                <a:solidFill>
                  <a:schemeClr val="bg2">
                    <a:lumMod val="50000"/>
                  </a:schemeClr>
                </a:solidFill>
                <a:latin typeface="Lato Heavy Italic"/>
              </a:rPr>
              <a:t>Experience the </a:t>
            </a:r>
            <a:r>
              <a:rPr lang="en-US" sz="1800" b="1" dirty="0">
                <a:solidFill>
                  <a:schemeClr val="bg2">
                    <a:lumMod val="50000"/>
                  </a:schemeClr>
                </a:solidFill>
                <a:latin typeface="Lato Heavy Italic"/>
              </a:rPr>
              <a:t>authentic healing practices </a:t>
            </a:r>
            <a:r>
              <a:rPr lang="en-US" sz="1800" dirty="0">
                <a:solidFill>
                  <a:schemeClr val="bg2">
                    <a:lumMod val="50000"/>
                  </a:schemeClr>
                </a:solidFill>
                <a:latin typeface="Lato Heavy Italic"/>
              </a:rPr>
              <a:t>of ancient India, while relaxing in the lap of modern holistic luxury. Spread in 60 acre of lush green land is ultimate destination of Health.</a:t>
            </a:r>
          </a:p>
          <a:p>
            <a:pPr marL="0" indent="0">
              <a:buNone/>
            </a:pPr>
            <a:r>
              <a:rPr lang="en-US" sz="1800" dirty="0">
                <a:solidFill>
                  <a:schemeClr val="bg2">
                    <a:lumMod val="50000"/>
                  </a:schemeClr>
                </a:solidFill>
                <a:latin typeface="Lato Heavy Italic"/>
              </a:rPr>
              <a:t>The Ayurveda Retreat with </a:t>
            </a:r>
            <a:r>
              <a:rPr lang="en-US" sz="1800" b="1" dirty="0">
                <a:solidFill>
                  <a:schemeClr val="bg2">
                    <a:lumMod val="50000"/>
                  </a:schemeClr>
                </a:solidFill>
                <a:latin typeface="Lato Heavy Italic"/>
              </a:rPr>
              <a:t>Hospital License.</a:t>
            </a:r>
          </a:p>
        </p:txBody>
      </p:sp>
      <p:pic>
        <p:nvPicPr>
          <p:cNvPr id="9" name="Content Placeholder 1"/>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257952" y="1823290"/>
            <a:ext cx="6672785" cy="3490831"/>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sp>
        <p:nvSpPr>
          <p:cNvPr id="12" name="Rectangle 11">
            <a:extLst>
              <a:ext uri="{FF2B5EF4-FFF2-40B4-BE49-F238E27FC236}">
                <a16:creationId xmlns:a16="http://schemas.microsoft.com/office/drawing/2014/main" id="{769742A7-FF8C-4257-AC7B-20D7F0BCAC8B}"/>
              </a:ext>
            </a:extLst>
          </p:cNvPr>
          <p:cNvSpPr/>
          <p:nvPr/>
        </p:nvSpPr>
        <p:spPr>
          <a:xfrm>
            <a:off x="0" y="695736"/>
            <a:ext cx="12192000" cy="364438"/>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latin typeface="Avenir Book"/>
              </a:rPr>
              <a:t>Kairali The Ayurvedic Healing Village</a:t>
            </a:r>
          </a:p>
        </p:txBody>
      </p:sp>
    </p:spTree>
    <p:extLst>
      <p:ext uri="{BB962C8B-B14F-4D97-AF65-F5344CB8AC3E}">
        <p14:creationId xmlns:p14="http://schemas.microsoft.com/office/powerpoint/2010/main" val="2564532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350193" y="0"/>
            <a:ext cx="5086433" cy="6858000"/>
          </a:xfrm>
          <a:prstGeom prst="rect">
            <a:avLst/>
          </a:prstGeom>
          <a:solidFill>
            <a:schemeClr val="accent3">
              <a:lumMod val="20000"/>
              <a:lumOff val="80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endParaRPr lang="en-US" dirty="0">
              <a:solidFill>
                <a:schemeClr val="tx1"/>
              </a:solidFill>
            </a:endParaRPr>
          </a:p>
        </p:txBody>
      </p:sp>
      <p:sp>
        <p:nvSpPr>
          <p:cNvPr id="10" name="Content Placeholder 9"/>
          <p:cNvSpPr>
            <a:spLocks noGrp="1"/>
          </p:cNvSpPr>
          <p:nvPr>
            <p:ph sz="half" idx="2"/>
          </p:nvPr>
        </p:nvSpPr>
        <p:spPr>
          <a:xfrm>
            <a:off x="6350193" y="1709986"/>
            <a:ext cx="5086433" cy="4351338"/>
          </a:xfrm>
        </p:spPr>
        <p:txBody>
          <a:bodyPr>
            <a:normAutofit/>
          </a:bodyPr>
          <a:lstStyle/>
          <a:p>
            <a:r>
              <a:rPr lang="en-IN" sz="1600" b="1" dirty="0" err="1">
                <a:solidFill>
                  <a:schemeClr val="bg2">
                    <a:lumMod val="50000"/>
                  </a:schemeClr>
                </a:solidFill>
                <a:latin typeface="Lato Heavy Italic"/>
                <a:ea typeface="Kozuka Gothic Pr6N EL" panose="020B0200000000000000" pitchFamily="34" charset="-128"/>
              </a:rPr>
              <a:t>Ayu</a:t>
            </a:r>
            <a:r>
              <a:rPr lang="en-IN" sz="1600" b="1" dirty="0">
                <a:solidFill>
                  <a:schemeClr val="bg2">
                    <a:lumMod val="50000"/>
                  </a:schemeClr>
                </a:solidFill>
                <a:latin typeface="Lato Heavy Italic"/>
                <a:ea typeface="Kozuka Gothic Pr6N EL" panose="020B0200000000000000" pitchFamily="34" charset="-128"/>
              </a:rPr>
              <a:t>” means life &amp; “</a:t>
            </a:r>
            <a:r>
              <a:rPr lang="en-IN" sz="1600" b="1" dirty="0" err="1">
                <a:solidFill>
                  <a:schemeClr val="bg2">
                    <a:lumMod val="50000"/>
                  </a:schemeClr>
                </a:solidFill>
                <a:latin typeface="Lato Heavy Italic"/>
                <a:ea typeface="Kozuka Gothic Pr6N EL" panose="020B0200000000000000" pitchFamily="34" charset="-128"/>
              </a:rPr>
              <a:t>veda</a:t>
            </a:r>
            <a:r>
              <a:rPr lang="en-IN" sz="1600" b="1" dirty="0">
                <a:solidFill>
                  <a:schemeClr val="bg2">
                    <a:lumMod val="50000"/>
                  </a:schemeClr>
                </a:solidFill>
                <a:latin typeface="Lato Heavy Italic"/>
                <a:ea typeface="Kozuka Gothic Pr6N EL" panose="020B0200000000000000" pitchFamily="34" charset="-128"/>
              </a:rPr>
              <a:t>” means science</a:t>
            </a:r>
            <a:r>
              <a:rPr lang="en-IN" sz="1600" dirty="0">
                <a:solidFill>
                  <a:schemeClr val="bg2">
                    <a:lumMod val="50000"/>
                  </a:schemeClr>
                </a:solidFill>
                <a:latin typeface="Lato Heavy Italic"/>
                <a:ea typeface="Kozuka Gothic Pr6N EL" panose="020B0200000000000000" pitchFamily="34" charset="-128"/>
              </a:rPr>
              <a:t>. </a:t>
            </a:r>
          </a:p>
          <a:p>
            <a:r>
              <a:rPr lang="en-IN" sz="1600" dirty="0">
                <a:solidFill>
                  <a:schemeClr val="bg2">
                    <a:lumMod val="50000"/>
                  </a:schemeClr>
                </a:solidFill>
                <a:latin typeface="Lato Heavy Italic"/>
                <a:ea typeface="Kozuka Gothic Pr6N EL" panose="020B0200000000000000" pitchFamily="34" charset="-128"/>
              </a:rPr>
              <a:t>Thus, “Ayurveda” means </a:t>
            </a:r>
            <a:r>
              <a:rPr lang="en-IN" sz="1600" b="1" dirty="0">
                <a:solidFill>
                  <a:schemeClr val="bg2">
                    <a:lumMod val="50000"/>
                  </a:schemeClr>
                </a:solidFill>
                <a:latin typeface="Lato Heavy Italic"/>
                <a:ea typeface="Kozuka Gothic Pr6N EL" panose="020B0200000000000000" pitchFamily="34" charset="-128"/>
              </a:rPr>
              <a:t>“Science of Life”. </a:t>
            </a:r>
            <a:r>
              <a:rPr lang="en-IN" sz="1600" dirty="0">
                <a:solidFill>
                  <a:schemeClr val="bg2">
                    <a:lumMod val="50000"/>
                  </a:schemeClr>
                </a:solidFill>
                <a:latin typeface="Lato Heavy Italic"/>
                <a:ea typeface="Kozuka Gothic Pr6N EL" panose="020B0200000000000000" pitchFamily="34" charset="-128"/>
              </a:rPr>
              <a:t>5000 years old tradition. Oldest medical science in history of medicine. A unique combination of medical</a:t>
            </a:r>
          </a:p>
          <a:p>
            <a:r>
              <a:rPr lang="en-IN" sz="1600" b="1" dirty="0">
                <a:solidFill>
                  <a:schemeClr val="bg2">
                    <a:lumMod val="50000"/>
                  </a:schemeClr>
                </a:solidFill>
                <a:latin typeface="Lato Heavy Italic"/>
                <a:ea typeface="Kozuka Gothic Pr6N EL" panose="020B0200000000000000" pitchFamily="34" charset="-128"/>
              </a:rPr>
              <a:t>Preventive &amp; Curative </a:t>
            </a:r>
            <a:r>
              <a:rPr lang="en-IN" sz="1600" dirty="0">
                <a:solidFill>
                  <a:schemeClr val="bg2">
                    <a:lumMod val="50000"/>
                  </a:schemeClr>
                </a:solidFill>
                <a:latin typeface="Lato Heavy Italic"/>
                <a:ea typeface="Kozuka Gothic Pr6N EL" panose="020B0200000000000000" pitchFamily="34" charset="-128"/>
              </a:rPr>
              <a:t>aspects for healthy body, mind and soul.</a:t>
            </a:r>
          </a:p>
          <a:p>
            <a:r>
              <a:rPr lang="en-IN" sz="1600" b="1" dirty="0">
                <a:solidFill>
                  <a:schemeClr val="bg2">
                    <a:lumMod val="50000"/>
                  </a:schemeClr>
                </a:solidFill>
                <a:latin typeface="Lato Heavy Italic"/>
                <a:ea typeface="Kozuka Gothic Pr6N EL" panose="020B0200000000000000" pitchFamily="34" charset="-128"/>
              </a:rPr>
              <a:t>100% Authentic and Natural</a:t>
            </a:r>
            <a:endParaRPr lang="en-IN" sz="1600" dirty="0">
              <a:solidFill>
                <a:schemeClr val="bg2">
                  <a:lumMod val="50000"/>
                </a:schemeClr>
              </a:solidFill>
              <a:latin typeface="Lato Heavy Italic"/>
              <a:ea typeface="Kozuka Gothic Pr6N EL" panose="020B0200000000000000" pitchFamily="34" charset="-128"/>
            </a:endParaRPr>
          </a:p>
          <a:p>
            <a:r>
              <a:rPr lang="en-IN" sz="1600" dirty="0">
                <a:solidFill>
                  <a:schemeClr val="bg2">
                    <a:lumMod val="50000"/>
                  </a:schemeClr>
                </a:solidFill>
                <a:latin typeface="Lato Heavy Italic"/>
                <a:ea typeface="Kozuka Gothic Pr6N EL" panose="020B0200000000000000" pitchFamily="34" charset="-128"/>
              </a:rPr>
              <a:t>A natural system of therapies with </a:t>
            </a:r>
            <a:r>
              <a:rPr lang="en-IN" sz="1600" b="1" dirty="0">
                <a:solidFill>
                  <a:schemeClr val="bg2">
                    <a:lumMod val="50000"/>
                  </a:schemeClr>
                </a:solidFill>
                <a:latin typeface="Lato Heavy Italic"/>
                <a:ea typeface="Kozuka Gothic Pr6N EL" panose="020B0200000000000000" pitchFamily="34" charset="-128"/>
              </a:rPr>
              <a:t>“No Side Effects” </a:t>
            </a:r>
            <a:r>
              <a:rPr lang="en-IN" sz="1600" dirty="0">
                <a:solidFill>
                  <a:schemeClr val="bg2">
                    <a:lumMod val="50000"/>
                  </a:schemeClr>
                </a:solidFill>
                <a:latin typeface="Lato Heavy Italic"/>
                <a:ea typeface="Kozuka Gothic Pr6N EL" panose="020B0200000000000000" pitchFamily="34" charset="-128"/>
              </a:rPr>
              <a:t>to the Body.</a:t>
            </a:r>
          </a:p>
          <a:p>
            <a:pPr marL="0" indent="0">
              <a:buNone/>
            </a:pPr>
            <a:r>
              <a:rPr lang="en-US" sz="1600" dirty="0">
                <a:solidFill>
                  <a:schemeClr val="bg2">
                    <a:lumMod val="50000"/>
                  </a:schemeClr>
                </a:solidFill>
              </a:rPr>
              <a:t> </a:t>
            </a:r>
          </a:p>
        </p:txBody>
      </p:sp>
      <p:grpSp>
        <p:nvGrpSpPr>
          <p:cNvPr id="4" name="Group 3"/>
          <p:cNvGrpSpPr/>
          <p:nvPr/>
        </p:nvGrpSpPr>
        <p:grpSpPr>
          <a:xfrm>
            <a:off x="1524000" y="808383"/>
            <a:ext cx="9753599" cy="5738191"/>
            <a:chOff x="0" y="808382"/>
            <a:chExt cx="9753599" cy="5738191"/>
          </a:xfrm>
        </p:grpSpPr>
        <p:sp>
          <p:nvSpPr>
            <p:cNvPr id="5" name="Rectangle 4"/>
            <p:cNvSpPr/>
            <p:nvPr/>
          </p:nvSpPr>
          <p:spPr>
            <a:xfrm>
              <a:off x="0" y="808383"/>
              <a:ext cx="1073426" cy="251791"/>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40000"/>
                    <a:lumOff val="60000"/>
                  </a:schemeClr>
                </a:solidFill>
              </a:endParaRPr>
            </a:p>
          </p:txBody>
        </p:sp>
        <p:sp>
          <p:nvSpPr>
            <p:cNvPr id="6" name="Rectangle 5"/>
            <p:cNvSpPr/>
            <p:nvPr/>
          </p:nvSpPr>
          <p:spPr>
            <a:xfrm>
              <a:off x="1186070" y="808382"/>
              <a:ext cx="7957930" cy="251792"/>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latin typeface="Avenir Book"/>
                </a:rPr>
                <a:t>Our Philosophy - Ayurveda</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91476" y="5682259"/>
              <a:ext cx="923783" cy="566139"/>
            </a:xfrm>
            <a:prstGeom prst="rect">
              <a:avLst/>
            </a:prstGeom>
          </p:spPr>
        </p:pic>
        <p:sp>
          <p:nvSpPr>
            <p:cNvPr id="8" name="Rectangle 7"/>
            <p:cNvSpPr/>
            <p:nvPr/>
          </p:nvSpPr>
          <p:spPr>
            <a:xfrm>
              <a:off x="5738191" y="6361043"/>
              <a:ext cx="4015408" cy="185530"/>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rPr>
                <a:t>KTAHV 2017				4</a:t>
              </a:r>
            </a:p>
          </p:txBody>
        </p:sp>
      </p:grpSp>
      <p:pic>
        <p:nvPicPr>
          <p:cNvPr id="12" name="Content Placeholder 11"/>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1524000" y="1296577"/>
            <a:ext cx="3564835" cy="5064467"/>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sp>
        <p:nvSpPr>
          <p:cNvPr id="13" name="Rectangle 12">
            <a:extLst>
              <a:ext uri="{FF2B5EF4-FFF2-40B4-BE49-F238E27FC236}">
                <a16:creationId xmlns:a16="http://schemas.microsoft.com/office/drawing/2014/main" id="{81229D66-A8C2-4AAA-AA9A-D37C713CFB00}"/>
              </a:ext>
            </a:extLst>
          </p:cNvPr>
          <p:cNvSpPr/>
          <p:nvPr/>
        </p:nvSpPr>
        <p:spPr>
          <a:xfrm>
            <a:off x="0" y="650046"/>
            <a:ext cx="12192000" cy="409894"/>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latin typeface="Avenir Book"/>
              </a:rPr>
              <a:t>Our philosophy - Ayurveda</a:t>
            </a:r>
          </a:p>
        </p:txBody>
      </p:sp>
    </p:spTree>
    <p:extLst>
      <p:ext uri="{BB962C8B-B14F-4D97-AF65-F5344CB8AC3E}">
        <p14:creationId xmlns:p14="http://schemas.microsoft.com/office/powerpoint/2010/main" val="31427805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5652" y="1118848"/>
            <a:ext cx="11860696" cy="4643886"/>
          </a:xfrm>
        </p:spPr>
        <p:txBody>
          <a:bodyPr>
            <a:normAutofit/>
          </a:bodyPr>
          <a:lstStyle/>
          <a:p>
            <a:pPr marL="0" indent="0">
              <a:buNone/>
            </a:pPr>
            <a:endParaRPr lang="en-US" sz="1800" dirty="0">
              <a:solidFill>
                <a:schemeClr val="bg2">
                  <a:lumMod val="50000"/>
                </a:schemeClr>
              </a:solidFill>
              <a:latin typeface="Lato Heavy Italic"/>
            </a:endParaRPr>
          </a:p>
          <a:p>
            <a:pPr marL="0" indent="0">
              <a:buNone/>
            </a:pPr>
            <a:r>
              <a:rPr lang="en-US" sz="1800" dirty="0">
                <a:solidFill>
                  <a:schemeClr val="bg2">
                    <a:lumMod val="50000"/>
                  </a:schemeClr>
                </a:solidFill>
                <a:latin typeface="Lato Heavy Italic"/>
              </a:rPr>
              <a:t>Kairali Ayurvedic Healing Village is a pioneer project promoting the treasures of India – </a:t>
            </a:r>
            <a:r>
              <a:rPr lang="en-US" sz="1800" b="1" dirty="0">
                <a:solidFill>
                  <a:schemeClr val="bg2">
                    <a:lumMod val="50000"/>
                  </a:schemeClr>
                </a:solidFill>
                <a:latin typeface="Lato Heavy Italic"/>
              </a:rPr>
              <a:t>Ayurveda through the hospitality services </a:t>
            </a:r>
            <a:r>
              <a:rPr lang="en-US" sz="1800" dirty="0">
                <a:solidFill>
                  <a:schemeClr val="bg2">
                    <a:lumMod val="50000"/>
                  </a:schemeClr>
                </a:solidFill>
                <a:latin typeface="Lato Heavy Italic"/>
              </a:rPr>
              <a:t>and Treatment therapies. The wealth of this high quality service is created and will satisfy all the interest of Investors and visitors such as:</a:t>
            </a:r>
          </a:p>
          <a:p>
            <a:pPr marL="0" indent="0">
              <a:buNone/>
            </a:pPr>
            <a:endParaRPr lang="en-US" sz="1800" dirty="0">
              <a:solidFill>
                <a:schemeClr val="bg2">
                  <a:lumMod val="50000"/>
                </a:schemeClr>
              </a:solidFill>
              <a:latin typeface="Lato Heavy Italic"/>
            </a:endParaRPr>
          </a:p>
          <a:p>
            <a:pPr algn="ctr"/>
            <a:r>
              <a:rPr lang="en-US" sz="1800" b="1" dirty="0">
                <a:solidFill>
                  <a:schemeClr val="bg2">
                    <a:lumMod val="50000"/>
                  </a:schemeClr>
                </a:solidFill>
                <a:latin typeface="Lato Heavy Italic"/>
              </a:rPr>
              <a:t>Authentic Ayurvedic Medical care and stay</a:t>
            </a:r>
          </a:p>
          <a:p>
            <a:pPr algn="ctr"/>
            <a:r>
              <a:rPr lang="en-US" sz="1800" b="1" dirty="0">
                <a:solidFill>
                  <a:schemeClr val="bg2">
                    <a:lumMod val="50000"/>
                  </a:schemeClr>
                </a:solidFill>
                <a:latin typeface="Lato Heavy Italic"/>
              </a:rPr>
              <a:t>Doctor Consultation</a:t>
            </a:r>
          </a:p>
          <a:p>
            <a:pPr algn="ctr"/>
            <a:r>
              <a:rPr lang="en-US" sz="1800" b="1" dirty="0">
                <a:solidFill>
                  <a:schemeClr val="bg2">
                    <a:lumMod val="50000"/>
                  </a:schemeClr>
                </a:solidFill>
                <a:latin typeface="Lato Heavy Italic"/>
              </a:rPr>
              <a:t>Yoga &amp; Meditation</a:t>
            </a:r>
          </a:p>
          <a:p>
            <a:pPr algn="ctr"/>
            <a:r>
              <a:rPr lang="en-US" sz="1800" b="1" dirty="0">
                <a:solidFill>
                  <a:schemeClr val="bg2">
                    <a:lumMod val="50000"/>
                  </a:schemeClr>
                </a:solidFill>
                <a:latin typeface="Lato Heavy Italic"/>
              </a:rPr>
              <a:t>Pure Organic &amp; Veg Food</a:t>
            </a:r>
          </a:p>
          <a:p>
            <a:pPr algn="ctr"/>
            <a:r>
              <a:rPr lang="en-US" sz="1800" b="1" dirty="0">
                <a:solidFill>
                  <a:schemeClr val="bg2">
                    <a:lumMod val="50000"/>
                  </a:schemeClr>
                </a:solidFill>
                <a:latin typeface="Lato Heavy Italic"/>
              </a:rPr>
              <a:t>Non Preserved &amp; Non Refrigerated Food </a:t>
            </a:r>
          </a:p>
          <a:p>
            <a:pPr algn="ctr"/>
            <a:r>
              <a:rPr lang="en-US" sz="1800" b="1" dirty="0">
                <a:solidFill>
                  <a:schemeClr val="bg2">
                    <a:lumMod val="50000"/>
                  </a:schemeClr>
                </a:solidFill>
                <a:latin typeface="Lato Heavy Italic"/>
              </a:rPr>
              <a:t>No Alcohol, No Caffeine &amp; No Smoking</a:t>
            </a:r>
          </a:p>
          <a:p>
            <a:pPr algn="ctr"/>
            <a:r>
              <a:rPr lang="en-US" sz="1800" b="1" dirty="0">
                <a:solidFill>
                  <a:schemeClr val="bg2">
                    <a:lumMod val="50000"/>
                  </a:schemeClr>
                </a:solidFill>
                <a:latin typeface="Lato Heavy Italic"/>
              </a:rPr>
              <a:t>Original Ayurvedic Medicine (Internally Manufactured by Kairali) </a:t>
            </a:r>
          </a:p>
          <a:p>
            <a:pPr algn="ctr"/>
            <a:r>
              <a:rPr lang="en-US" sz="1800" b="1" dirty="0">
                <a:solidFill>
                  <a:schemeClr val="bg2">
                    <a:lumMod val="50000"/>
                  </a:schemeClr>
                </a:solidFill>
                <a:latin typeface="Lato Heavy Italic"/>
              </a:rPr>
              <a:t>Pure, Natural &amp; Unperturbed Environment</a:t>
            </a:r>
          </a:p>
        </p:txBody>
      </p:sp>
      <p:grpSp>
        <p:nvGrpSpPr>
          <p:cNvPr id="4" name="Group 3"/>
          <p:cNvGrpSpPr/>
          <p:nvPr/>
        </p:nvGrpSpPr>
        <p:grpSpPr>
          <a:xfrm>
            <a:off x="1524000" y="808383"/>
            <a:ext cx="10177670" cy="5804451"/>
            <a:chOff x="0" y="808382"/>
            <a:chExt cx="10177670" cy="5804451"/>
          </a:xfrm>
        </p:grpSpPr>
        <p:sp>
          <p:nvSpPr>
            <p:cNvPr id="5" name="Rectangle 4"/>
            <p:cNvSpPr/>
            <p:nvPr/>
          </p:nvSpPr>
          <p:spPr>
            <a:xfrm>
              <a:off x="0" y="808383"/>
              <a:ext cx="1073426" cy="251791"/>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40000"/>
                    <a:lumOff val="60000"/>
                  </a:schemeClr>
                </a:solidFill>
              </a:endParaRPr>
            </a:p>
          </p:txBody>
        </p:sp>
        <p:sp>
          <p:nvSpPr>
            <p:cNvPr id="6" name="Rectangle 5"/>
            <p:cNvSpPr/>
            <p:nvPr/>
          </p:nvSpPr>
          <p:spPr>
            <a:xfrm>
              <a:off x="1186070" y="808382"/>
              <a:ext cx="7957930" cy="251792"/>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latin typeface="Avenir Book"/>
                </a:rPr>
                <a:t>Our USP</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91476" y="5682259"/>
              <a:ext cx="923783" cy="566139"/>
            </a:xfrm>
            <a:prstGeom prst="rect">
              <a:avLst/>
            </a:prstGeom>
          </p:spPr>
        </p:pic>
        <p:sp>
          <p:nvSpPr>
            <p:cNvPr id="8" name="Rectangle 7"/>
            <p:cNvSpPr/>
            <p:nvPr/>
          </p:nvSpPr>
          <p:spPr>
            <a:xfrm>
              <a:off x="6228522" y="6361042"/>
              <a:ext cx="3949148" cy="251791"/>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rPr>
                <a:t>KTAHV 2017				5</a:t>
              </a:r>
            </a:p>
          </p:txBody>
        </p:sp>
      </p:grpSp>
      <p:sp>
        <p:nvSpPr>
          <p:cNvPr id="9" name="Rectangle 8">
            <a:extLst>
              <a:ext uri="{FF2B5EF4-FFF2-40B4-BE49-F238E27FC236}">
                <a16:creationId xmlns:a16="http://schemas.microsoft.com/office/drawing/2014/main" id="{6B979A5E-FE35-419E-B91E-398417BADAB5}"/>
              </a:ext>
            </a:extLst>
          </p:cNvPr>
          <p:cNvSpPr/>
          <p:nvPr/>
        </p:nvSpPr>
        <p:spPr>
          <a:xfrm>
            <a:off x="0" y="699437"/>
            <a:ext cx="12192000" cy="367360"/>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latin typeface="Avenir Book"/>
              </a:rPr>
              <a:t>Our USP</a:t>
            </a:r>
          </a:p>
        </p:txBody>
      </p:sp>
    </p:spTree>
    <p:extLst>
      <p:ext uri="{BB962C8B-B14F-4D97-AF65-F5344CB8AC3E}">
        <p14:creationId xmlns:p14="http://schemas.microsoft.com/office/powerpoint/2010/main" val="6154708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2120347" y="4661340"/>
            <a:ext cx="7474227" cy="2031325"/>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chemeClr val="bg2">
                    <a:lumMod val="50000"/>
                  </a:schemeClr>
                </a:solidFill>
                <a:latin typeface="Lato Heavy Italic"/>
              </a:rPr>
              <a:t>Coimbatore International Airport 1hr 15 Min away.</a:t>
            </a:r>
          </a:p>
          <a:p>
            <a:pPr marL="285750" indent="-285750">
              <a:buFont typeface="Arial" panose="020B0604020202020204" pitchFamily="34" charset="0"/>
              <a:buChar char="•"/>
            </a:pPr>
            <a:r>
              <a:rPr lang="en-US" dirty="0">
                <a:solidFill>
                  <a:schemeClr val="bg2">
                    <a:lumMod val="50000"/>
                  </a:schemeClr>
                </a:solidFill>
                <a:latin typeface="Lato Heavy Italic"/>
              </a:rPr>
              <a:t>Cochin International Airport 4 </a:t>
            </a:r>
            <a:r>
              <a:rPr lang="en-US" dirty="0" err="1">
                <a:solidFill>
                  <a:schemeClr val="bg2">
                    <a:lumMod val="50000"/>
                  </a:schemeClr>
                </a:solidFill>
                <a:latin typeface="Lato Heavy Italic"/>
              </a:rPr>
              <a:t>hr</a:t>
            </a:r>
            <a:r>
              <a:rPr lang="en-US" dirty="0">
                <a:solidFill>
                  <a:schemeClr val="bg2">
                    <a:lumMod val="50000"/>
                  </a:schemeClr>
                </a:solidFill>
                <a:latin typeface="Lato Heavy Italic"/>
              </a:rPr>
              <a:t> away.</a:t>
            </a:r>
          </a:p>
          <a:p>
            <a:pPr marL="285750" indent="-285750">
              <a:buFont typeface="Arial" panose="020B0604020202020204" pitchFamily="34" charset="0"/>
              <a:buChar char="•"/>
            </a:pPr>
            <a:r>
              <a:rPr lang="en-US" dirty="0">
                <a:solidFill>
                  <a:schemeClr val="bg2">
                    <a:lumMod val="50000"/>
                  </a:schemeClr>
                </a:solidFill>
                <a:latin typeface="Lato Heavy Italic"/>
              </a:rPr>
              <a:t>Palakkad Junction station is 5km from the city.</a:t>
            </a:r>
          </a:p>
          <a:p>
            <a:pPr marL="285750" indent="-285750">
              <a:buFont typeface="Arial" panose="020B0604020202020204" pitchFamily="34" charset="0"/>
              <a:buChar char="•"/>
            </a:pPr>
            <a:r>
              <a:rPr lang="en-US" dirty="0">
                <a:solidFill>
                  <a:schemeClr val="bg2">
                    <a:lumMod val="50000"/>
                  </a:schemeClr>
                </a:solidFill>
                <a:latin typeface="Lato Heavy Italic"/>
              </a:rPr>
              <a:t>Accessibility of National Highway 47.</a:t>
            </a:r>
          </a:p>
          <a:p>
            <a:pPr marL="285750" indent="-285750">
              <a:buFont typeface="Arial" panose="020B0604020202020204" pitchFamily="34" charset="0"/>
              <a:buChar char="•"/>
            </a:pPr>
            <a:r>
              <a:rPr lang="en-US" dirty="0">
                <a:solidFill>
                  <a:schemeClr val="bg2">
                    <a:lumMod val="50000"/>
                  </a:schemeClr>
                </a:solidFill>
                <a:latin typeface="Lato Heavy Italic"/>
              </a:rPr>
              <a:t>Nearest city – Palakkad </a:t>
            </a:r>
          </a:p>
          <a:p>
            <a:endParaRPr lang="en-US" dirty="0">
              <a:solidFill>
                <a:schemeClr val="bg2">
                  <a:lumMod val="50000"/>
                </a:schemeClr>
              </a:solidFill>
              <a:latin typeface="Lato Heavy Italic"/>
            </a:endParaRPr>
          </a:p>
          <a:p>
            <a:endParaRPr lang="en-US" dirty="0">
              <a:solidFill>
                <a:schemeClr val="bg2">
                  <a:lumMod val="50000"/>
                </a:schemeClr>
              </a:solidFill>
              <a:latin typeface="Lato Heavy Italic"/>
            </a:endParaRPr>
          </a:p>
        </p:txBody>
      </p:sp>
      <p:pic>
        <p:nvPicPr>
          <p:cNvPr id="11" name="Picture 4" descr="map.gif"/>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bwMode="auto">
          <a:xfrm>
            <a:off x="1563756" y="1379069"/>
            <a:ext cx="7726644" cy="3078359"/>
          </a:xfrm>
          <a:prstGeom prst="rect">
            <a:avLst/>
          </a:prstGeom>
          <a:noFill/>
          <a:ln w="9525">
            <a:noFill/>
            <a:miter lim="800000"/>
            <a:headEnd/>
            <a:tailEnd/>
          </a:ln>
        </p:spPr>
      </p:pic>
      <p:sp>
        <p:nvSpPr>
          <p:cNvPr id="13" name="Rectangle 12">
            <a:extLst>
              <a:ext uri="{FF2B5EF4-FFF2-40B4-BE49-F238E27FC236}">
                <a16:creationId xmlns:a16="http://schemas.microsoft.com/office/drawing/2014/main" id="{EC6BC194-B1A6-4763-839F-D454B9F62802}"/>
              </a:ext>
            </a:extLst>
          </p:cNvPr>
          <p:cNvSpPr/>
          <p:nvPr/>
        </p:nvSpPr>
        <p:spPr>
          <a:xfrm>
            <a:off x="7752522" y="6361043"/>
            <a:ext cx="3949148" cy="251791"/>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rPr>
              <a:t>KTAHV 2017				6</a:t>
            </a:r>
          </a:p>
        </p:txBody>
      </p:sp>
      <p:pic>
        <p:nvPicPr>
          <p:cNvPr id="14" name="Picture 13">
            <a:extLst>
              <a:ext uri="{FF2B5EF4-FFF2-40B4-BE49-F238E27FC236}">
                <a16:creationId xmlns:a16="http://schemas.microsoft.com/office/drawing/2014/main" id="{789DBC68-FB91-4744-A59C-081B9000CD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84103" y="5735271"/>
            <a:ext cx="923783" cy="566139"/>
          </a:xfrm>
          <a:prstGeom prst="rect">
            <a:avLst/>
          </a:prstGeom>
        </p:spPr>
      </p:pic>
      <p:sp>
        <p:nvSpPr>
          <p:cNvPr id="15" name="Rectangle 14">
            <a:extLst>
              <a:ext uri="{FF2B5EF4-FFF2-40B4-BE49-F238E27FC236}">
                <a16:creationId xmlns:a16="http://schemas.microsoft.com/office/drawing/2014/main" id="{FB3C1726-0B20-4F55-9820-269FDDF98656}"/>
              </a:ext>
            </a:extLst>
          </p:cNvPr>
          <p:cNvSpPr/>
          <p:nvPr/>
        </p:nvSpPr>
        <p:spPr>
          <a:xfrm>
            <a:off x="0" y="793724"/>
            <a:ext cx="12192000" cy="364438"/>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latin typeface="Avenir Book"/>
              </a:rPr>
              <a:t>Project Accessibility</a:t>
            </a:r>
          </a:p>
        </p:txBody>
      </p:sp>
    </p:spTree>
    <p:extLst>
      <p:ext uri="{BB962C8B-B14F-4D97-AF65-F5344CB8AC3E}">
        <p14:creationId xmlns:p14="http://schemas.microsoft.com/office/powerpoint/2010/main" val="4990406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1305" y="1244254"/>
            <a:ext cx="8942240" cy="5434841"/>
          </a:xfrm>
        </p:spPr>
        <p:txBody>
          <a:bodyPr>
            <a:normAutofit/>
          </a:bodyPr>
          <a:lstStyle/>
          <a:p>
            <a:pPr marL="0" indent="0">
              <a:buNone/>
            </a:pPr>
            <a:endParaRPr lang="en-US" sz="1800" dirty="0">
              <a:solidFill>
                <a:schemeClr val="bg2">
                  <a:lumMod val="50000"/>
                </a:schemeClr>
              </a:solidFill>
              <a:latin typeface="Lato Heavy Italic"/>
            </a:endParaRPr>
          </a:p>
          <a:p>
            <a:pPr marL="0" indent="0">
              <a:buNone/>
            </a:pPr>
            <a:r>
              <a:rPr lang="en-US" sz="1800" dirty="0">
                <a:solidFill>
                  <a:schemeClr val="bg2">
                    <a:lumMod val="50000"/>
                  </a:schemeClr>
                </a:solidFill>
                <a:latin typeface="Lato Heavy Italic"/>
              </a:rPr>
              <a:t>Following the </a:t>
            </a:r>
            <a:r>
              <a:rPr lang="en-US" sz="1800" b="1" dirty="0">
                <a:solidFill>
                  <a:schemeClr val="bg2">
                    <a:lumMod val="50000"/>
                  </a:schemeClr>
                </a:solidFill>
                <a:latin typeface="Lato Heavy Italic"/>
              </a:rPr>
              <a:t>age-old Ayurvedic techniques</a:t>
            </a:r>
            <a:r>
              <a:rPr lang="en-US" sz="1800" dirty="0">
                <a:solidFill>
                  <a:schemeClr val="bg2">
                    <a:lumMod val="50000"/>
                  </a:schemeClr>
                </a:solidFill>
                <a:latin typeface="Lato Heavy Italic"/>
              </a:rPr>
              <a:t>, we Treat various Ailments and provide Therapies that focusses on the overall healthy development and sustenance of body.</a:t>
            </a:r>
          </a:p>
          <a:p>
            <a:pPr marL="0" indent="0">
              <a:buNone/>
            </a:pPr>
            <a:r>
              <a:rPr lang="en-US" sz="1800" b="1" dirty="0">
                <a:solidFill>
                  <a:schemeClr val="bg2">
                    <a:lumMod val="50000"/>
                  </a:schemeClr>
                </a:solidFill>
                <a:latin typeface="Lato Heavy Italic"/>
              </a:rPr>
              <a:t>Our Specialty :</a:t>
            </a:r>
          </a:p>
          <a:p>
            <a:r>
              <a:rPr lang="en-US" sz="1800" b="1" dirty="0">
                <a:solidFill>
                  <a:schemeClr val="bg2">
                    <a:lumMod val="50000"/>
                  </a:schemeClr>
                </a:solidFill>
                <a:latin typeface="Lato Heavy Italic"/>
              </a:rPr>
              <a:t>Panchakarma Therapy</a:t>
            </a:r>
          </a:p>
          <a:p>
            <a:r>
              <a:rPr lang="en-US" sz="1800" b="1" dirty="0">
                <a:solidFill>
                  <a:schemeClr val="bg2">
                    <a:lumMod val="50000"/>
                  </a:schemeClr>
                </a:solidFill>
                <a:latin typeface="Lato Heavy Italic"/>
              </a:rPr>
              <a:t>Weight loss Treatment</a:t>
            </a:r>
          </a:p>
          <a:p>
            <a:r>
              <a:rPr lang="en-US" sz="1800" b="1" dirty="0">
                <a:solidFill>
                  <a:schemeClr val="bg2">
                    <a:lumMod val="50000"/>
                  </a:schemeClr>
                </a:solidFill>
                <a:latin typeface="Lato Heavy Italic"/>
              </a:rPr>
              <a:t>Spondylitis treatment </a:t>
            </a:r>
          </a:p>
          <a:p>
            <a:r>
              <a:rPr lang="en-US" sz="1800" b="1" dirty="0">
                <a:solidFill>
                  <a:schemeClr val="bg2">
                    <a:lumMod val="50000"/>
                  </a:schemeClr>
                </a:solidFill>
                <a:latin typeface="Lato Heavy Italic"/>
              </a:rPr>
              <a:t>Rejuvenation and Detox Therapy</a:t>
            </a:r>
          </a:p>
          <a:p>
            <a:r>
              <a:rPr lang="en-US" sz="1800" b="1" dirty="0">
                <a:solidFill>
                  <a:schemeClr val="bg2">
                    <a:lumMod val="50000"/>
                  </a:schemeClr>
                </a:solidFill>
                <a:latin typeface="Lato Heavy Italic"/>
              </a:rPr>
              <a:t>Treatment for Bronchial diseases</a:t>
            </a:r>
          </a:p>
          <a:p>
            <a:r>
              <a:rPr lang="en-US" sz="1800" b="1" dirty="0">
                <a:solidFill>
                  <a:schemeClr val="bg2">
                    <a:lumMod val="50000"/>
                  </a:schemeClr>
                </a:solidFill>
                <a:latin typeface="Lato Heavy Italic"/>
              </a:rPr>
              <a:t>Treatment for Eye Care</a:t>
            </a:r>
          </a:p>
          <a:p>
            <a:r>
              <a:rPr lang="en-US" sz="1800" b="1" dirty="0">
                <a:solidFill>
                  <a:schemeClr val="bg2">
                    <a:lumMod val="50000"/>
                  </a:schemeClr>
                </a:solidFill>
                <a:latin typeface="Lato Heavy Italic"/>
              </a:rPr>
              <a:t>Revitalization &amp; strengthening</a:t>
            </a:r>
          </a:p>
          <a:p>
            <a:pPr marL="0" indent="0">
              <a:buNone/>
            </a:pPr>
            <a:r>
              <a:rPr lang="en-US" sz="1800" b="1" dirty="0">
                <a:solidFill>
                  <a:schemeClr val="bg2">
                    <a:lumMod val="50000"/>
                  </a:schemeClr>
                </a:solidFill>
                <a:latin typeface="Lato Heavy Italic"/>
              </a:rPr>
              <a:t>      treatment for cancer patients (No cure)</a:t>
            </a:r>
          </a:p>
          <a:p>
            <a:r>
              <a:rPr lang="en-US" sz="1800" b="1" dirty="0">
                <a:solidFill>
                  <a:schemeClr val="bg2">
                    <a:lumMod val="50000"/>
                  </a:schemeClr>
                </a:solidFill>
                <a:latin typeface="Lato Heavy Italic"/>
              </a:rPr>
              <a:t>And many more…</a:t>
            </a:r>
          </a:p>
          <a:p>
            <a:pPr marL="0" indent="0">
              <a:buNone/>
            </a:pPr>
            <a:r>
              <a:rPr lang="en-US" sz="1800" dirty="0">
                <a:solidFill>
                  <a:schemeClr val="bg2">
                    <a:lumMod val="50000"/>
                  </a:schemeClr>
                </a:solidFill>
                <a:latin typeface="Lato Heavy Italic"/>
              </a:rPr>
              <a:t>  </a:t>
            </a: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48662" y="2412550"/>
            <a:ext cx="4807719" cy="3605790"/>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sp>
        <p:nvSpPr>
          <p:cNvPr id="12" name="Rectangle 11">
            <a:extLst>
              <a:ext uri="{FF2B5EF4-FFF2-40B4-BE49-F238E27FC236}">
                <a16:creationId xmlns:a16="http://schemas.microsoft.com/office/drawing/2014/main" id="{4A30E21C-2D14-4600-9BF0-9E0C6030BDE1}"/>
              </a:ext>
            </a:extLst>
          </p:cNvPr>
          <p:cNvSpPr/>
          <p:nvPr/>
        </p:nvSpPr>
        <p:spPr>
          <a:xfrm>
            <a:off x="0" y="695736"/>
            <a:ext cx="12192000" cy="364438"/>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latin typeface="Avenir Book"/>
              </a:rPr>
              <a:t>Ayurveda Treatment Centre</a:t>
            </a:r>
          </a:p>
        </p:txBody>
      </p:sp>
      <p:sp>
        <p:nvSpPr>
          <p:cNvPr id="14" name="Rectangle 13">
            <a:extLst>
              <a:ext uri="{FF2B5EF4-FFF2-40B4-BE49-F238E27FC236}">
                <a16:creationId xmlns:a16="http://schemas.microsoft.com/office/drawing/2014/main" id="{4902D999-1165-4519-8D5B-783216F1B662}"/>
              </a:ext>
            </a:extLst>
          </p:cNvPr>
          <p:cNvSpPr/>
          <p:nvPr/>
        </p:nvSpPr>
        <p:spPr>
          <a:xfrm>
            <a:off x="7752522" y="6361043"/>
            <a:ext cx="3949148" cy="251791"/>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rPr>
              <a:t>KTAHV 2017				7</a:t>
            </a:r>
          </a:p>
        </p:txBody>
      </p:sp>
      <p:pic>
        <p:nvPicPr>
          <p:cNvPr id="15" name="Picture 14">
            <a:extLst>
              <a:ext uri="{FF2B5EF4-FFF2-40B4-BE49-F238E27FC236}">
                <a16:creationId xmlns:a16="http://schemas.microsoft.com/office/drawing/2014/main" id="{E25FDCDB-2600-46EA-8FA0-C8784057E8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84103" y="5735271"/>
            <a:ext cx="923783" cy="566139"/>
          </a:xfrm>
          <a:prstGeom prst="rect">
            <a:avLst/>
          </a:prstGeom>
        </p:spPr>
      </p:pic>
    </p:spTree>
    <p:extLst>
      <p:ext uri="{BB962C8B-B14F-4D97-AF65-F5344CB8AC3E}">
        <p14:creationId xmlns:p14="http://schemas.microsoft.com/office/powerpoint/2010/main" val="10180982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0087" y="1310371"/>
            <a:ext cx="2557670" cy="3242856"/>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66800" y="1594282"/>
            <a:ext cx="3613821" cy="2783913"/>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sp>
        <p:nvSpPr>
          <p:cNvPr id="2" name="TextBox 1">
            <a:extLst>
              <a:ext uri="{FF2B5EF4-FFF2-40B4-BE49-F238E27FC236}">
                <a16:creationId xmlns:a16="http://schemas.microsoft.com/office/drawing/2014/main" id="{3EECF514-3AB2-446C-B81D-48B6AD3A6531}"/>
              </a:ext>
            </a:extLst>
          </p:cNvPr>
          <p:cNvSpPr txBox="1"/>
          <p:nvPr/>
        </p:nvSpPr>
        <p:spPr>
          <a:xfrm>
            <a:off x="530087" y="5087335"/>
            <a:ext cx="11277600" cy="590931"/>
          </a:xfrm>
          <a:prstGeom prst="rect">
            <a:avLst/>
          </a:prstGeom>
          <a:noFill/>
        </p:spPr>
        <p:txBody>
          <a:bodyPr wrap="square" rtlCol="0">
            <a:spAutoFit/>
          </a:bodyPr>
          <a:lstStyle/>
          <a:p>
            <a:pPr>
              <a:lnSpc>
                <a:spcPct val="90000"/>
              </a:lnSpc>
              <a:spcBef>
                <a:spcPts val="1000"/>
              </a:spcBef>
            </a:pPr>
            <a:r>
              <a:rPr lang="en-US" b="1" dirty="0">
                <a:solidFill>
                  <a:schemeClr val="bg2">
                    <a:lumMod val="50000"/>
                  </a:schemeClr>
                </a:solidFill>
                <a:latin typeface="Lato Heavy Italic"/>
              </a:rPr>
              <a:t>With the presence of 4 full time Doctors, 9 therapists, 2 Yoga teachers &amp; 100 plus staff members we  ensure undivided attention is given to our guests</a:t>
            </a:r>
          </a:p>
        </p:txBody>
      </p:sp>
      <p:pic>
        <p:nvPicPr>
          <p:cNvPr id="11" name="Picture 10" descr="A picture containing ground, tree, outdoor, person&#10;&#10;Description generated with high confidence">
            <a:extLst>
              <a:ext uri="{FF2B5EF4-FFF2-40B4-BE49-F238E27FC236}">
                <a16:creationId xmlns:a16="http://schemas.microsoft.com/office/drawing/2014/main" id="{36BDFA6B-7A0D-4F69-92DF-0D86D933865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59664" y="1769314"/>
            <a:ext cx="4148023" cy="2467497"/>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sp>
        <p:nvSpPr>
          <p:cNvPr id="13" name="Rectangle 12">
            <a:extLst>
              <a:ext uri="{FF2B5EF4-FFF2-40B4-BE49-F238E27FC236}">
                <a16:creationId xmlns:a16="http://schemas.microsoft.com/office/drawing/2014/main" id="{592671B9-31B4-438D-A945-808548A6CB0A}"/>
              </a:ext>
            </a:extLst>
          </p:cNvPr>
          <p:cNvSpPr/>
          <p:nvPr/>
        </p:nvSpPr>
        <p:spPr>
          <a:xfrm>
            <a:off x="0" y="695736"/>
            <a:ext cx="12192000" cy="364438"/>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latin typeface="Avenir Book"/>
              </a:rPr>
              <a:t>Undivided Attention</a:t>
            </a:r>
          </a:p>
        </p:txBody>
      </p:sp>
      <p:sp>
        <p:nvSpPr>
          <p:cNvPr id="14" name="Rectangle 13">
            <a:extLst>
              <a:ext uri="{FF2B5EF4-FFF2-40B4-BE49-F238E27FC236}">
                <a16:creationId xmlns:a16="http://schemas.microsoft.com/office/drawing/2014/main" id="{CA2C5456-79EC-4310-8B1F-2EE395E80746}"/>
              </a:ext>
            </a:extLst>
          </p:cNvPr>
          <p:cNvSpPr/>
          <p:nvPr/>
        </p:nvSpPr>
        <p:spPr>
          <a:xfrm>
            <a:off x="7752522" y="6361043"/>
            <a:ext cx="3949148" cy="251791"/>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rPr>
              <a:t>KTAHV 2017				8</a:t>
            </a:r>
          </a:p>
        </p:txBody>
      </p:sp>
      <p:pic>
        <p:nvPicPr>
          <p:cNvPr id="15" name="Picture 14">
            <a:extLst>
              <a:ext uri="{FF2B5EF4-FFF2-40B4-BE49-F238E27FC236}">
                <a16:creationId xmlns:a16="http://schemas.microsoft.com/office/drawing/2014/main" id="{6506225B-3661-45B4-8CE6-4DE29A95561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84103" y="5735271"/>
            <a:ext cx="923783" cy="566139"/>
          </a:xfrm>
          <a:prstGeom prst="rect">
            <a:avLst/>
          </a:prstGeom>
        </p:spPr>
      </p:pic>
    </p:spTree>
    <p:extLst>
      <p:ext uri="{BB962C8B-B14F-4D97-AF65-F5344CB8AC3E}">
        <p14:creationId xmlns:p14="http://schemas.microsoft.com/office/powerpoint/2010/main" val="25180444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076871" y="1481713"/>
            <a:ext cx="3956102" cy="2327706"/>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pic>
        <p:nvPicPr>
          <p:cNvPr id="10" name="Picture 9">
            <a:extLst>
              <a:ext uri="{FF2B5EF4-FFF2-40B4-BE49-F238E27FC236}">
                <a16:creationId xmlns:a16="http://schemas.microsoft.com/office/drawing/2014/main" id="{AF5AFB3C-310D-47E8-B60A-2432D63E05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17949" y="1489185"/>
            <a:ext cx="3493385" cy="2320234"/>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pic>
        <p:nvPicPr>
          <p:cNvPr id="11" name="Picture 10">
            <a:extLst>
              <a:ext uri="{FF2B5EF4-FFF2-40B4-BE49-F238E27FC236}">
                <a16:creationId xmlns:a16="http://schemas.microsoft.com/office/drawing/2014/main" id="{85974218-B491-4408-947C-EBA0FC64C8C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9027" y="1481713"/>
            <a:ext cx="3493385" cy="2320234"/>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sp>
        <p:nvSpPr>
          <p:cNvPr id="12" name="TextBox 11">
            <a:extLst>
              <a:ext uri="{FF2B5EF4-FFF2-40B4-BE49-F238E27FC236}">
                <a16:creationId xmlns:a16="http://schemas.microsoft.com/office/drawing/2014/main" id="{24806DFA-3F0D-435B-9F51-440821E1AACE}"/>
              </a:ext>
            </a:extLst>
          </p:cNvPr>
          <p:cNvSpPr txBox="1"/>
          <p:nvPr/>
        </p:nvSpPr>
        <p:spPr>
          <a:xfrm>
            <a:off x="940903" y="4568838"/>
            <a:ext cx="10933043" cy="923330"/>
          </a:xfrm>
          <a:prstGeom prst="rect">
            <a:avLst/>
          </a:prstGeom>
          <a:noFill/>
        </p:spPr>
        <p:txBody>
          <a:bodyPr wrap="square" rtlCol="0">
            <a:spAutoFit/>
          </a:bodyPr>
          <a:lstStyle/>
          <a:p>
            <a:pPr>
              <a:lnSpc>
                <a:spcPct val="90000"/>
              </a:lnSpc>
              <a:spcBef>
                <a:spcPts val="1000"/>
              </a:spcBef>
            </a:pPr>
            <a:r>
              <a:rPr lang="en-US" sz="2000" dirty="0">
                <a:solidFill>
                  <a:schemeClr val="bg2">
                    <a:lumMod val="50000"/>
                  </a:schemeClr>
                </a:solidFill>
                <a:latin typeface="Lato Heavy Italic"/>
              </a:rPr>
              <a:t>Kairali Ayurvedic Healing Village is strategically designed in such a way that each villa and amenities is surrounded with best of the nature with natural looking water bodies flowing throughout property gives guest a </a:t>
            </a:r>
            <a:r>
              <a:rPr lang="en-US" sz="2000" b="1" dirty="0">
                <a:solidFill>
                  <a:schemeClr val="bg2">
                    <a:lumMod val="50000"/>
                  </a:schemeClr>
                </a:solidFill>
                <a:latin typeface="Lato Heavy Italic"/>
              </a:rPr>
              <a:t>“close to nature”</a:t>
            </a:r>
            <a:r>
              <a:rPr lang="en-US" sz="2000" dirty="0">
                <a:solidFill>
                  <a:schemeClr val="bg2">
                    <a:lumMod val="50000"/>
                  </a:schemeClr>
                </a:solidFill>
                <a:latin typeface="Lato Heavy Italic"/>
              </a:rPr>
              <a:t> feel.</a:t>
            </a:r>
          </a:p>
        </p:txBody>
      </p:sp>
      <p:sp>
        <p:nvSpPr>
          <p:cNvPr id="14" name="Rectangle 13">
            <a:extLst>
              <a:ext uri="{FF2B5EF4-FFF2-40B4-BE49-F238E27FC236}">
                <a16:creationId xmlns:a16="http://schemas.microsoft.com/office/drawing/2014/main" id="{6EED3DF9-29EE-495A-8316-69BE2CC2CB8D}"/>
              </a:ext>
            </a:extLst>
          </p:cNvPr>
          <p:cNvSpPr/>
          <p:nvPr/>
        </p:nvSpPr>
        <p:spPr>
          <a:xfrm>
            <a:off x="0" y="695736"/>
            <a:ext cx="12192000" cy="364438"/>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latin typeface="Avenir Book"/>
              </a:rPr>
              <a:t>Close to Nature</a:t>
            </a:r>
          </a:p>
        </p:txBody>
      </p:sp>
      <p:sp>
        <p:nvSpPr>
          <p:cNvPr id="15" name="Rectangle 14">
            <a:extLst>
              <a:ext uri="{FF2B5EF4-FFF2-40B4-BE49-F238E27FC236}">
                <a16:creationId xmlns:a16="http://schemas.microsoft.com/office/drawing/2014/main" id="{58F488F5-F066-4491-A65A-8934AB8A790D}"/>
              </a:ext>
            </a:extLst>
          </p:cNvPr>
          <p:cNvSpPr/>
          <p:nvPr/>
        </p:nvSpPr>
        <p:spPr>
          <a:xfrm>
            <a:off x="7752522" y="6361043"/>
            <a:ext cx="3949148" cy="251791"/>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rPr>
              <a:t>KTAHV 2017			                          9</a:t>
            </a:r>
          </a:p>
        </p:txBody>
      </p:sp>
      <p:pic>
        <p:nvPicPr>
          <p:cNvPr id="16" name="Picture 15">
            <a:extLst>
              <a:ext uri="{FF2B5EF4-FFF2-40B4-BE49-F238E27FC236}">
                <a16:creationId xmlns:a16="http://schemas.microsoft.com/office/drawing/2014/main" id="{A342E7B7-2FE8-4BEB-859A-131CC08DE69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84103" y="5735271"/>
            <a:ext cx="923783" cy="566139"/>
          </a:xfrm>
          <a:prstGeom prst="rect">
            <a:avLst/>
          </a:prstGeom>
        </p:spPr>
      </p:pic>
    </p:spTree>
    <p:extLst>
      <p:ext uri="{BB962C8B-B14F-4D97-AF65-F5344CB8AC3E}">
        <p14:creationId xmlns:p14="http://schemas.microsoft.com/office/powerpoint/2010/main" val="740184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9307" y="1346100"/>
            <a:ext cx="11832609" cy="4816164"/>
          </a:xfrm>
        </p:spPr>
        <p:txBody>
          <a:bodyPr>
            <a:normAutofit/>
          </a:bodyPr>
          <a:lstStyle/>
          <a:p>
            <a:pPr marL="0" indent="0">
              <a:buNone/>
            </a:pPr>
            <a:r>
              <a:rPr lang="en-US" sz="1800" b="1" dirty="0">
                <a:solidFill>
                  <a:schemeClr val="bg2">
                    <a:lumMod val="50000"/>
                  </a:schemeClr>
                </a:solidFill>
                <a:latin typeface="Lato Heavy Italic"/>
              </a:rPr>
              <a:t>Kairali – The Ayurvedic Healing Village </a:t>
            </a:r>
            <a:r>
              <a:rPr lang="en-US" sz="1800" dirty="0">
                <a:solidFill>
                  <a:schemeClr val="bg2">
                    <a:lumMod val="50000"/>
                  </a:schemeClr>
                </a:solidFill>
                <a:latin typeface="Lato Heavy Italic"/>
              </a:rPr>
              <a:t>is situated at Palakkad, a land of palm and Paddy fields and is the one of the biggest mountain pass in the world separating Western Ghats. Studded with rich flora and fauna.</a:t>
            </a:r>
          </a:p>
          <a:p>
            <a:pPr marL="0" indent="0">
              <a:buNone/>
            </a:pPr>
            <a:r>
              <a:rPr lang="en-US" sz="1800" dirty="0">
                <a:solidFill>
                  <a:schemeClr val="bg2">
                    <a:lumMod val="50000"/>
                  </a:schemeClr>
                </a:solidFill>
                <a:latin typeface="Lato Heavy Italic"/>
              </a:rPr>
              <a:t>Our Village is also extremely rich in biodiversity. We have </a:t>
            </a:r>
            <a:r>
              <a:rPr lang="en-US" sz="1800" b="1" dirty="0">
                <a:solidFill>
                  <a:schemeClr val="bg2">
                    <a:lumMod val="50000"/>
                  </a:schemeClr>
                </a:solidFill>
                <a:latin typeface="Lato Heavy Italic"/>
              </a:rPr>
              <a:t>Organic Garden </a:t>
            </a:r>
            <a:r>
              <a:rPr lang="en-US" sz="1800" dirty="0">
                <a:solidFill>
                  <a:schemeClr val="bg2">
                    <a:lumMod val="50000"/>
                  </a:schemeClr>
                </a:solidFill>
                <a:latin typeface="Lato Heavy Italic"/>
              </a:rPr>
              <a:t>with various species of </a:t>
            </a:r>
            <a:r>
              <a:rPr lang="en-US" sz="1800" b="1" dirty="0">
                <a:solidFill>
                  <a:schemeClr val="bg2">
                    <a:lumMod val="50000"/>
                  </a:schemeClr>
                </a:solidFill>
                <a:latin typeface="Lato Heavy Italic"/>
              </a:rPr>
              <a:t>Medicinal and fruiting plants</a:t>
            </a:r>
            <a:r>
              <a:rPr lang="en-US" sz="1800" dirty="0">
                <a:solidFill>
                  <a:schemeClr val="bg2">
                    <a:lumMod val="50000"/>
                  </a:schemeClr>
                </a:solidFill>
                <a:latin typeface="Lato Heavy Italic"/>
              </a:rPr>
              <a:t>. Our Products and Medicine are made up from the produce Organic Garden.</a:t>
            </a:r>
          </a:p>
          <a:p>
            <a:pPr marL="0" indent="0">
              <a:buNone/>
            </a:pPr>
            <a:endParaRPr lang="en-US" sz="1800" dirty="0">
              <a:solidFill>
                <a:schemeClr val="bg2">
                  <a:lumMod val="50000"/>
                </a:schemeClr>
              </a:solidFill>
              <a:latin typeface="Lato Heavy Italic"/>
            </a:endParaRPr>
          </a:p>
        </p:txBody>
      </p:sp>
      <p:pic>
        <p:nvPicPr>
          <p:cNvPr id="10" name="Picture 9" descr="A close up of a garden&#10;&#10;Description generated with very high confidence">
            <a:extLst>
              <a:ext uri="{FF2B5EF4-FFF2-40B4-BE49-F238E27FC236}">
                <a16:creationId xmlns:a16="http://schemas.microsoft.com/office/drawing/2014/main" id="{8288A821-B7C8-4D9C-820B-20616F8F3F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83217" y="3429003"/>
            <a:ext cx="3087755" cy="2315815"/>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pic>
        <p:nvPicPr>
          <p:cNvPr id="12" name="Picture 11" descr="A green plant in a garden&#10;&#10;Description generated with very high confidence">
            <a:extLst>
              <a:ext uri="{FF2B5EF4-FFF2-40B4-BE49-F238E27FC236}">
                <a16:creationId xmlns:a16="http://schemas.microsoft.com/office/drawing/2014/main" id="{509E9D48-356D-4D9C-ABB4-596E7549F8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55860" y="3429000"/>
            <a:ext cx="3087758" cy="2315818"/>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pic>
        <p:nvPicPr>
          <p:cNvPr id="14" name="Picture 13" descr="A tree in a grassy area&#10;&#10;Description generated with very high confidence">
            <a:extLst>
              <a:ext uri="{FF2B5EF4-FFF2-40B4-BE49-F238E27FC236}">
                <a16:creationId xmlns:a16="http://schemas.microsoft.com/office/drawing/2014/main" id="{5E771870-4D6B-420B-935D-B406A190573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8505" y="3429000"/>
            <a:ext cx="3087756" cy="2315818"/>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sp>
        <p:nvSpPr>
          <p:cNvPr id="11" name="Rectangle 10">
            <a:extLst>
              <a:ext uri="{FF2B5EF4-FFF2-40B4-BE49-F238E27FC236}">
                <a16:creationId xmlns:a16="http://schemas.microsoft.com/office/drawing/2014/main" id="{F833F861-B1D7-468D-972F-7CAABFC628D2}"/>
              </a:ext>
            </a:extLst>
          </p:cNvPr>
          <p:cNvSpPr/>
          <p:nvPr/>
        </p:nvSpPr>
        <p:spPr>
          <a:xfrm>
            <a:off x="0" y="695736"/>
            <a:ext cx="12192000" cy="364438"/>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latin typeface="Avenir Book"/>
              </a:rPr>
              <a:t>Green Landscaping</a:t>
            </a:r>
          </a:p>
        </p:txBody>
      </p:sp>
      <p:sp>
        <p:nvSpPr>
          <p:cNvPr id="13" name="Rectangle 12">
            <a:extLst>
              <a:ext uri="{FF2B5EF4-FFF2-40B4-BE49-F238E27FC236}">
                <a16:creationId xmlns:a16="http://schemas.microsoft.com/office/drawing/2014/main" id="{B13767B7-09F6-48D6-B79C-1A8E97AEE4C1}"/>
              </a:ext>
            </a:extLst>
          </p:cNvPr>
          <p:cNvSpPr/>
          <p:nvPr/>
        </p:nvSpPr>
        <p:spPr>
          <a:xfrm>
            <a:off x="7752522" y="6361043"/>
            <a:ext cx="3949148" cy="251791"/>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rPr>
              <a:t>KTAHV 2017			                        10</a:t>
            </a:r>
          </a:p>
        </p:txBody>
      </p:sp>
      <p:pic>
        <p:nvPicPr>
          <p:cNvPr id="15" name="Picture 14">
            <a:extLst>
              <a:ext uri="{FF2B5EF4-FFF2-40B4-BE49-F238E27FC236}">
                <a16:creationId xmlns:a16="http://schemas.microsoft.com/office/drawing/2014/main" id="{50118BCD-D455-40A1-8C69-40011D70695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84104" y="5844209"/>
            <a:ext cx="746026" cy="457201"/>
          </a:xfrm>
          <a:prstGeom prst="rect">
            <a:avLst/>
          </a:prstGeom>
        </p:spPr>
      </p:pic>
    </p:spTree>
    <p:extLst>
      <p:ext uri="{BB962C8B-B14F-4D97-AF65-F5344CB8AC3E}">
        <p14:creationId xmlns:p14="http://schemas.microsoft.com/office/powerpoint/2010/main" val="4315825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77760" y="3601152"/>
            <a:ext cx="2963751" cy="1968462"/>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18502" y="3936004"/>
            <a:ext cx="2513128" cy="1669167"/>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pic>
        <p:nvPicPr>
          <p:cNvPr id="10" name="Picture 9"/>
          <p:cNvPicPr>
            <a:picLocks noChangeAspect="1"/>
          </p:cNvPicPr>
          <p:nvPr/>
        </p:nvPicPr>
        <p:blipFill rotWithShape="1">
          <a:blip r:embed="rId4">
            <a:extLst>
              <a:ext uri="{28A0092B-C50C-407E-A947-70E740481C1C}">
                <a14:useLocalDpi xmlns:a14="http://schemas.microsoft.com/office/drawing/2010/main" val="0"/>
              </a:ext>
            </a:extLst>
          </a:blip>
          <a:srcRect l="15250" r="18922"/>
          <a:stretch/>
        </p:blipFill>
        <p:spPr>
          <a:xfrm>
            <a:off x="9959681" y="3483376"/>
            <a:ext cx="2059808" cy="2086238"/>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pic>
        <p:nvPicPr>
          <p:cNvPr id="12" name="Picture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4460" y="2906089"/>
            <a:ext cx="2699082" cy="2699082"/>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sp>
        <p:nvSpPr>
          <p:cNvPr id="2" name="TextBox 1">
            <a:extLst>
              <a:ext uri="{FF2B5EF4-FFF2-40B4-BE49-F238E27FC236}">
                <a16:creationId xmlns:a16="http://schemas.microsoft.com/office/drawing/2014/main" id="{F2DC78D5-7951-41CE-A60D-444390594717}"/>
              </a:ext>
            </a:extLst>
          </p:cNvPr>
          <p:cNvSpPr txBox="1"/>
          <p:nvPr/>
        </p:nvSpPr>
        <p:spPr>
          <a:xfrm>
            <a:off x="380657" y="1332395"/>
            <a:ext cx="11430685" cy="1477328"/>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chemeClr val="bg2">
                    <a:lumMod val="50000"/>
                  </a:schemeClr>
                </a:solidFill>
                <a:latin typeface="Lato Heavy Italic"/>
              </a:rPr>
              <a:t>Ayurvedic Healing Village have around </a:t>
            </a:r>
            <a:r>
              <a:rPr lang="en-US" b="1" dirty="0">
                <a:solidFill>
                  <a:schemeClr val="bg2">
                    <a:lumMod val="50000"/>
                  </a:schemeClr>
                </a:solidFill>
                <a:latin typeface="Lato Heavy Italic"/>
              </a:rPr>
              <a:t>600 Coconut Trees, 200 Teak tree, 20 Mango Trees, various Medicinal plants. </a:t>
            </a:r>
          </a:p>
          <a:p>
            <a:endParaRPr lang="en-US" b="1" dirty="0">
              <a:solidFill>
                <a:schemeClr val="bg2">
                  <a:lumMod val="50000"/>
                </a:schemeClr>
              </a:solidFill>
              <a:latin typeface="Lato Heavy Italic"/>
            </a:endParaRPr>
          </a:p>
          <a:p>
            <a:pPr marL="285750" indent="-285750">
              <a:buFont typeface="Arial" panose="020B0604020202020204" pitchFamily="34" charset="0"/>
              <a:buChar char="•"/>
            </a:pPr>
            <a:r>
              <a:rPr lang="en-US" b="1" dirty="0">
                <a:solidFill>
                  <a:schemeClr val="bg2">
                    <a:lumMod val="50000"/>
                  </a:schemeClr>
                </a:solidFill>
                <a:latin typeface="Lato Heavy Italic"/>
              </a:rPr>
              <a:t>More than 100 species of Birds and Butterfly</a:t>
            </a:r>
            <a:r>
              <a:rPr lang="en-US" dirty="0">
                <a:solidFill>
                  <a:schemeClr val="bg2">
                    <a:lumMod val="50000"/>
                  </a:schemeClr>
                </a:solidFill>
                <a:latin typeface="Lato Heavy Italic"/>
              </a:rPr>
              <a:t>.</a:t>
            </a:r>
          </a:p>
          <a:p>
            <a:endParaRPr lang="en-US" dirty="0"/>
          </a:p>
        </p:txBody>
      </p:sp>
      <p:sp>
        <p:nvSpPr>
          <p:cNvPr id="14" name="Rectangle 13">
            <a:extLst>
              <a:ext uri="{FF2B5EF4-FFF2-40B4-BE49-F238E27FC236}">
                <a16:creationId xmlns:a16="http://schemas.microsoft.com/office/drawing/2014/main" id="{102E8F58-7624-491F-8EB0-A1D55423279B}"/>
              </a:ext>
            </a:extLst>
          </p:cNvPr>
          <p:cNvSpPr/>
          <p:nvPr/>
        </p:nvSpPr>
        <p:spPr>
          <a:xfrm>
            <a:off x="0" y="695736"/>
            <a:ext cx="12192000" cy="364438"/>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latin typeface="Avenir Book"/>
              </a:rPr>
              <a:t>Diverse Flora &amp; Fauna</a:t>
            </a:r>
          </a:p>
        </p:txBody>
      </p:sp>
      <p:sp>
        <p:nvSpPr>
          <p:cNvPr id="15" name="Rectangle 14">
            <a:extLst>
              <a:ext uri="{FF2B5EF4-FFF2-40B4-BE49-F238E27FC236}">
                <a16:creationId xmlns:a16="http://schemas.microsoft.com/office/drawing/2014/main" id="{AC84609E-D200-4F40-B7BA-370F3CDF03D4}"/>
              </a:ext>
            </a:extLst>
          </p:cNvPr>
          <p:cNvSpPr/>
          <p:nvPr/>
        </p:nvSpPr>
        <p:spPr>
          <a:xfrm>
            <a:off x="7752522" y="6361043"/>
            <a:ext cx="3949148" cy="251791"/>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rPr>
              <a:t>KTAHV 2017			                        11</a:t>
            </a:r>
          </a:p>
        </p:txBody>
      </p:sp>
      <p:pic>
        <p:nvPicPr>
          <p:cNvPr id="16" name="Picture 15">
            <a:extLst>
              <a:ext uri="{FF2B5EF4-FFF2-40B4-BE49-F238E27FC236}">
                <a16:creationId xmlns:a16="http://schemas.microsoft.com/office/drawing/2014/main" id="{C79A6C6E-F859-4DF9-9A87-D285334F119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384103" y="5735271"/>
            <a:ext cx="923783" cy="566139"/>
          </a:xfrm>
          <a:prstGeom prst="rect">
            <a:avLst/>
          </a:prstGeom>
        </p:spPr>
      </p:pic>
    </p:spTree>
    <p:extLst>
      <p:ext uri="{BB962C8B-B14F-4D97-AF65-F5344CB8AC3E}">
        <p14:creationId xmlns:p14="http://schemas.microsoft.com/office/powerpoint/2010/main" val="18595349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1305" y="1655595"/>
            <a:ext cx="11105322" cy="4831343"/>
          </a:xfrm>
        </p:spPr>
        <p:txBody>
          <a:bodyPr>
            <a:normAutofit/>
          </a:bodyPr>
          <a:lstStyle/>
          <a:p>
            <a:r>
              <a:rPr lang="en-US" sz="1800" dirty="0">
                <a:solidFill>
                  <a:schemeClr val="bg2">
                    <a:lumMod val="50000"/>
                  </a:schemeClr>
                </a:solidFill>
                <a:latin typeface="Lato Heavy Italic"/>
              </a:rPr>
              <a:t>Our Villas are designed according to the </a:t>
            </a:r>
            <a:r>
              <a:rPr lang="en-US" sz="1800" b="1" dirty="0">
                <a:solidFill>
                  <a:schemeClr val="bg2">
                    <a:lumMod val="50000"/>
                  </a:schemeClr>
                </a:solidFill>
                <a:latin typeface="Lato Heavy Italic"/>
              </a:rPr>
              <a:t>zodiac signs</a:t>
            </a:r>
            <a:r>
              <a:rPr lang="en-US" sz="1800" dirty="0">
                <a:solidFill>
                  <a:schemeClr val="bg2">
                    <a:lumMod val="50000"/>
                  </a:schemeClr>
                </a:solidFill>
                <a:latin typeface="Lato Heavy Italic"/>
              </a:rPr>
              <a:t>.</a:t>
            </a:r>
          </a:p>
          <a:p>
            <a:r>
              <a:rPr lang="en-US" sz="1800" dirty="0">
                <a:solidFill>
                  <a:schemeClr val="bg2">
                    <a:lumMod val="50000"/>
                  </a:schemeClr>
                </a:solidFill>
                <a:latin typeface="Lato Heavy Italic"/>
              </a:rPr>
              <a:t>Astrologer presence to give you a peek into your future.</a:t>
            </a:r>
          </a:p>
          <a:p>
            <a:r>
              <a:rPr lang="en-US" sz="1800" b="1" dirty="0">
                <a:solidFill>
                  <a:schemeClr val="bg2">
                    <a:lumMod val="50000"/>
                  </a:schemeClr>
                </a:solidFill>
                <a:latin typeface="Lato Heavy Italic"/>
              </a:rPr>
              <a:t>Rare </a:t>
            </a:r>
            <a:r>
              <a:rPr lang="en-US" sz="1800" b="1" dirty="0" err="1">
                <a:solidFill>
                  <a:schemeClr val="bg2">
                    <a:lumMod val="50000"/>
                  </a:schemeClr>
                </a:solidFill>
                <a:latin typeface="Lato Heavy Italic"/>
              </a:rPr>
              <a:t>Valambari</a:t>
            </a:r>
            <a:r>
              <a:rPr lang="en-US" sz="1800" b="1" dirty="0">
                <a:solidFill>
                  <a:schemeClr val="bg2">
                    <a:lumMod val="50000"/>
                  </a:schemeClr>
                </a:solidFill>
                <a:latin typeface="Lato Heavy Italic"/>
              </a:rPr>
              <a:t> conch </a:t>
            </a:r>
            <a:r>
              <a:rPr lang="en-US" sz="1800" dirty="0">
                <a:solidFill>
                  <a:schemeClr val="bg2">
                    <a:lumMod val="50000"/>
                  </a:schemeClr>
                </a:solidFill>
                <a:latin typeface="Lato Heavy Italic"/>
              </a:rPr>
              <a:t>is placed in each villas to give positive vibrations.</a:t>
            </a:r>
          </a:p>
          <a:p>
            <a:r>
              <a:rPr lang="en-US" sz="1800" dirty="0">
                <a:solidFill>
                  <a:schemeClr val="bg2">
                    <a:lumMod val="50000"/>
                  </a:schemeClr>
                </a:solidFill>
                <a:latin typeface="Lato Heavy Italic"/>
              </a:rPr>
              <a:t>Flooring is done with </a:t>
            </a:r>
            <a:r>
              <a:rPr lang="en-US" sz="1800" b="1" dirty="0">
                <a:solidFill>
                  <a:schemeClr val="bg2">
                    <a:lumMod val="50000"/>
                  </a:schemeClr>
                </a:solidFill>
                <a:latin typeface="Lato Heavy Italic"/>
              </a:rPr>
              <a:t>Red Oxide because of its cooling properties</a:t>
            </a:r>
            <a:r>
              <a:rPr lang="en-US" sz="1800" dirty="0">
                <a:solidFill>
                  <a:schemeClr val="bg2">
                    <a:lumMod val="50000"/>
                  </a:schemeClr>
                </a:solidFill>
                <a:latin typeface="Lato Heavy Italic"/>
              </a:rPr>
              <a:t>.</a:t>
            </a:r>
          </a:p>
          <a:p>
            <a:r>
              <a:rPr lang="en-US" sz="1800" dirty="0">
                <a:solidFill>
                  <a:schemeClr val="bg2">
                    <a:lumMod val="50000"/>
                  </a:schemeClr>
                </a:solidFill>
                <a:latin typeface="Lato Heavy Italic"/>
              </a:rPr>
              <a:t>We have 30 Villas with us, divided in 3 Villas : </a:t>
            </a:r>
            <a:r>
              <a:rPr lang="en-US" sz="1800" b="1" dirty="0">
                <a:solidFill>
                  <a:schemeClr val="bg2">
                    <a:lumMod val="50000"/>
                  </a:schemeClr>
                </a:solidFill>
                <a:latin typeface="Lato Heavy Italic"/>
              </a:rPr>
              <a:t>Deluxe Villa, Royal Villa and Maharaja Suite</a:t>
            </a:r>
            <a:r>
              <a:rPr lang="en-US" sz="1800" dirty="0">
                <a:solidFill>
                  <a:schemeClr val="bg2">
                    <a:lumMod val="50000"/>
                  </a:schemeClr>
                </a:solidFill>
                <a:latin typeface="Lato Heavy Italic"/>
              </a:rPr>
              <a:t>.</a:t>
            </a:r>
          </a:p>
          <a:p>
            <a:endParaRPr lang="en-US" sz="1800" dirty="0">
              <a:solidFill>
                <a:schemeClr val="bg2">
                  <a:lumMod val="50000"/>
                </a:schemeClr>
              </a:solidFill>
              <a:latin typeface="Lato Heavy Italic"/>
            </a:endParaRPr>
          </a:p>
          <a:p>
            <a:r>
              <a:rPr lang="en-US" sz="1800" dirty="0">
                <a:solidFill>
                  <a:schemeClr val="bg2">
                    <a:lumMod val="50000"/>
                  </a:schemeClr>
                </a:solidFill>
                <a:latin typeface="Lato Heavy Italic"/>
              </a:rPr>
              <a:t>Deluxe Villa – </a:t>
            </a:r>
            <a:r>
              <a:rPr lang="en-US" sz="1800" b="1" dirty="0">
                <a:solidFill>
                  <a:schemeClr val="bg2">
                    <a:lumMod val="50000"/>
                  </a:schemeClr>
                </a:solidFill>
                <a:latin typeface="Lato Heavy Italic"/>
              </a:rPr>
              <a:t>21 </a:t>
            </a:r>
            <a:r>
              <a:rPr lang="en-US" sz="1800" dirty="0">
                <a:solidFill>
                  <a:schemeClr val="bg2">
                    <a:lumMod val="50000"/>
                  </a:schemeClr>
                </a:solidFill>
                <a:latin typeface="Lato Heavy Italic"/>
              </a:rPr>
              <a:t>in Number</a:t>
            </a:r>
          </a:p>
          <a:p>
            <a:endParaRPr lang="en-US" sz="1800" dirty="0">
              <a:solidFill>
                <a:schemeClr val="bg2">
                  <a:lumMod val="50000"/>
                </a:schemeClr>
              </a:solidFill>
              <a:latin typeface="Lato Heavy Italic"/>
            </a:endParaRPr>
          </a:p>
          <a:p>
            <a:r>
              <a:rPr lang="en-US" sz="1800" dirty="0">
                <a:solidFill>
                  <a:schemeClr val="bg2">
                    <a:lumMod val="50000"/>
                  </a:schemeClr>
                </a:solidFill>
                <a:latin typeface="Lato Heavy Italic"/>
              </a:rPr>
              <a:t>Royal Villa – </a:t>
            </a:r>
            <a:r>
              <a:rPr lang="en-US" sz="1800" b="1" dirty="0">
                <a:solidFill>
                  <a:schemeClr val="bg2">
                    <a:lumMod val="50000"/>
                  </a:schemeClr>
                </a:solidFill>
                <a:latin typeface="Lato Heavy Italic"/>
              </a:rPr>
              <a:t>7 </a:t>
            </a:r>
            <a:r>
              <a:rPr lang="en-US" sz="1800" dirty="0">
                <a:solidFill>
                  <a:schemeClr val="bg2">
                    <a:lumMod val="50000"/>
                  </a:schemeClr>
                </a:solidFill>
                <a:latin typeface="Lato Heavy Italic"/>
              </a:rPr>
              <a:t>in Number</a:t>
            </a:r>
          </a:p>
          <a:p>
            <a:endParaRPr lang="en-US" sz="1800" dirty="0">
              <a:solidFill>
                <a:schemeClr val="bg2">
                  <a:lumMod val="50000"/>
                </a:schemeClr>
              </a:solidFill>
              <a:latin typeface="Lato Heavy Italic"/>
            </a:endParaRPr>
          </a:p>
          <a:p>
            <a:r>
              <a:rPr lang="en-US" sz="1800" dirty="0">
                <a:solidFill>
                  <a:schemeClr val="bg2">
                    <a:lumMod val="50000"/>
                  </a:schemeClr>
                </a:solidFill>
                <a:latin typeface="Lato Heavy Italic"/>
              </a:rPr>
              <a:t>Maharaja Suite – </a:t>
            </a:r>
            <a:r>
              <a:rPr lang="en-US" sz="1800" b="1" dirty="0">
                <a:solidFill>
                  <a:schemeClr val="bg2">
                    <a:lumMod val="50000"/>
                  </a:schemeClr>
                </a:solidFill>
                <a:latin typeface="Lato Heavy Italic"/>
              </a:rPr>
              <a:t>2 </a:t>
            </a:r>
            <a:r>
              <a:rPr lang="en-US" sz="1800" dirty="0">
                <a:solidFill>
                  <a:schemeClr val="bg2">
                    <a:lumMod val="50000"/>
                  </a:schemeClr>
                </a:solidFill>
                <a:latin typeface="Lato Heavy Italic"/>
              </a:rPr>
              <a:t>in Number</a:t>
            </a:r>
          </a:p>
          <a:p>
            <a:endParaRPr lang="en-US" sz="1800" dirty="0">
              <a:solidFill>
                <a:schemeClr val="bg2">
                  <a:lumMod val="50000"/>
                </a:schemeClr>
              </a:solidFill>
              <a:latin typeface="Lato Heavy Italic"/>
            </a:endParaRPr>
          </a:p>
          <a:p>
            <a:endParaRPr lang="en-US" sz="1800" dirty="0">
              <a:solidFill>
                <a:schemeClr val="bg2">
                  <a:lumMod val="50000"/>
                </a:schemeClr>
              </a:solidFill>
              <a:latin typeface="Lato Heavy Italic"/>
            </a:endParaRPr>
          </a:p>
          <a:p>
            <a:pPr marL="0" indent="0">
              <a:buNone/>
            </a:pPr>
            <a:endParaRPr lang="en-US" sz="1800" dirty="0">
              <a:solidFill>
                <a:schemeClr val="bg2">
                  <a:lumMod val="50000"/>
                </a:schemeClr>
              </a:solidFill>
              <a:latin typeface="Lato Heavy Italic"/>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84103" y="5735271"/>
            <a:ext cx="923783" cy="566139"/>
          </a:xfrm>
          <a:prstGeom prst="rect">
            <a:avLst/>
          </a:prstGeom>
        </p:spPr>
      </p:pic>
      <p:sp>
        <p:nvSpPr>
          <p:cNvPr id="9" name="Rectangle 8">
            <a:extLst>
              <a:ext uri="{FF2B5EF4-FFF2-40B4-BE49-F238E27FC236}">
                <a16:creationId xmlns:a16="http://schemas.microsoft.com/office/drawing/2014/main" id="{64049D92-6702-4EA5-A935-DEB278AAB919}"/>
              </a:ext>
            </a:extLst>
          </p:cNvPr>
          <p:cNvSpPr/>
          <p:nvPr/>
        </p:nvSpPr>
        <p:spPr>
          <a:xfrm>
            <a:off x="0" y="695736"/>
            <a:ext cx="12192000" cy="364438"/>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latin typeface="Avenir Book"/>
              </a:rPr>
              <a:t>Our Villas</a:t>
            </a:r>
          </a:p>
        </p:txBody>
      </p:sp>
      <p:sp>
        <p:nvSpPr>
          <p:cNvPr id="10" name="Rectangle 9">
            <a:extLst>
              <a:ext uri="{FF2B5EF4-FFF2-40B4-BE49-F238E27FC236}">
                <a16:creationId xmlns:a16="http://schemas.microsoft.com/office/drawing/2014/main" id="{02DCE81C-F733-46F0-A99B-07F8D7EE959C}"/>
              </a:ext>
            </a:extLst>
          </p:cNvPr>
          <p:cNvSpPr/>
          <p:nvPr/>
        </p:nvSpPr>
        <p:spPr>
          <a:xfrm>
            <a:off x="7752522" y="6361043"/>
            <a:ext cx="3949148" cy="251791"/>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rPr>
              <a:t>KTAHV 2017			                        12</a:t>
            </a:r>
          </a:p>
        </p:txBody>
      </p:sp>
    </p:spTree>
    <p:extLst>
      <p:ext uri="{BB962C8B-B14F-4D97-AF65-F5344CB8AC3E}">
        <p14:creationId xmlns:p14="http://schemas.microsoft.com/office/powerpoint/2010/main" val="29966050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rotWithShape="1">
          <a:blip r:embed="rId2">
            <a:extLst>
              <a:ext uri="{28A0092B-C50C-407E-A947-70E740481C1C}">
                <a14:useLocalDpi xmlns:a14="http://schemas.microsoft.com/office/drawing/2010/main" val="0"/>
              </a:ext>
            </a:extLst>
          </a:blip>
          <a:srcRect t="4517" b="2530"/>
          <a:stretch/>
        </p:blipFill>
        <p:spPr>
          <a:xfrm>
            <a:off x="1550504" y="1199053"/>
            <a:ext cx="7540487" cy="5102357"/>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sp>
        <p:nvSpPr>
          <p:cNvPr id="10" name="Rectangle 9">
            <a:extLst>
              <a:ext uri="{FF2B5EF4-FFF2-40B4-BE49-F238E27FC236}">
                <a16:creationId xmlns:a16="http://schemas.microsoft.com/office/drawing/2014/main" id="{B45AC4A7-009C-47A8-B2E3-C0777D8CAA6B}"/>
              </a:ext>
            </a:extLst>
          </p:cNvPr>
          <p:cNvSpPr/>
          <p:nvPr/>
        </p:nvSpPr>
        <p:spPr>
          <a:xfrm>
            <a:off x="0" y="695736"/>
            <a:ext cx="12192000" cy="364438"/>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latin typeface="Avenir Book"/>
              </a:rPr>
              <a:t>Deluxe Villa</a:t>
            </a:r>
          </a:p>
        </p:txBody>
      </p:sp>
      <p:pic>
        <p:nvPicPr>
          <p:cNvPr id="11" name="Picture 10">
            <a:extLst>
              <a:ext uri="{FF2B5EF4-FFF2-40B4-BE49-F238E27FC236}">
                <a16:creationId xmlns:a16="http://schemas.microsoft.com/office/drawing/2014/main" id="{2498F969-5785-48F4-822C-8696C52F9D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84103" y="5735271"/>
            <a:ext cx="923783" cy="566139"/>
          </a:xfrm>
          <a:prstGeom prst="rect">
            <a:avLst/>
          </a:prstGeom>
        </p:spPr>
      </p:pic>
      <p:sp>
        <p:nvSpPr>
          <p:cNvPr id="12" name="Rectangle 11">
            <a:extLst>
              <a:ext uri="{FF2B5EF4-FFF2-40B4-BE49-F238E27FC236}">
                <a16:creationId xmlns:a16="http://schemas.microsoft.com/office/drawing/2014/main" id="{E7395A8C-CD16-4FBB-8987-AFB121F96819}"/>
              </a:ext>
            </a:extLst>
          </p:cNvPr>
          <p:cNvSpPr/>
          <p:nvPr/>
        </p:nvSpPr>
        <p:spPr>
          <a:xfrm>
            <a:off x="7752522" y="6361043"/>
            <a:ext cx="3949148" cy="251791"/>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rPr>
              <a:t>KTAHV 2017			                        13</a:t>
            </a:r>
          </a:p>
        </p:txBody>
      </p:sp>
    </p:spTree>
    <p:extLst>
      <p:ext uri="{BB962C8B-B14F-4D97-AF65-F5344CB8AC3E}">
        <p14:creationId xmlns:p14="http://schemas.microsoft.com/office/powerpoint/2010/main" val="17731838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8313" y="1175734"/>
            <a:ext cx="7689575" cy="5107256"/>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sp>
        <p:nvSpPr>
          <p:cNvPr id="9" name="Rectangle 8">
            <a:extLst>
              <a:ext uri="{FF2B5EF4-FFF2-40B4-BE49-F238E27FC236}">
                <a16:creationId xmlns:a16="http://schemas.microsoft.com/office/drawing/2014/main" id="{24DEA973-6469-42AE-9996-62A26EFC7860}"/>
              </a:ext>
            </a:extLst>
          </p:cNvPr>
          <p:cNvSpPr/>
          <p:nvPr/>
        </p:nvSpPr>
        <p:spPr>
          <a:xfrm>
            <a:off x="0" y="695736"/>
            <a:ext cx="12192000" cy="364438"/>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latin typeface="Avenir Book"/>
              </a:rPr>
              <a:t>Royal Villa</a:t>
            </a:r>
          </a:p>
        </p:txBody>
      </p:sp>
      <p:pic>
        <p:nvPicPr>
          <p:cNvPr id="10" name="Picture 9">
            <a:extLst>
              <a:ext uri="{FF2B5EF4-FFF2-40B4-BE49-F238E27FC236}">
                <a16:creationId xmlns:a16="http://schemas.microsoft.com/office/drawing/2014/main" id="{48278BFA-CA2A-48D8-B2A9-863860690F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84103" y="5735271"/>
            <a:ext cx="923783" cy="566139"/>
          </a:xfrm>
          <a:prstGeom prst="rect">
            <a:avLst/>
          </a:prstGeom>
        </p:spPr>
      </p:pic>
      <p:sp>
        <p:nvSpPr>
          <p:cNvPr id="11" name="Rectangle 10">
            <a:extLst>
              <a:ext uri="{FF2B5EF4-FFF2-40B4-BE49-F238E27FC236}">
                <a16:creationId xmlns:a16="http://schemas.microsoft.com/office/drawing/2014/main" id="{9DBB62D0-92D2-4397-A29D-4115C5B61DDA}"/>
              </a:ext>
            </a:extLst>
          </p:cNvPr>
          <p:cNvSpPr/>
          <p:nvPr/>
        </p:nvSpPr>
        <p:spPr>
          <a:xfrm>
            <a:off x="7752522" y="6361043"/>
            <a:ext cx="3949148" cy="251791"/>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rPr>
              <a:t>KTAHV 2017			                        14</a:t>
            </a:r>
          </a:p>
        </p:txBody>
      </p:sp>
    </p:spTree>
    <p:extLst>
      <p:ext uri="{BB962C8B-B14F-4D97-AF65-F5344CB8AC3E}">
        <p14:creationId xmlns:p14="http://schemas.microsoft.com/office/powerpoint/2010/main" val="6386978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rotWithShape="1">
          <a:blip r:embed="rId2">
            <a:extLst>
              <a:ext uri="{28A0092B-C50C-407E-A947-70E740481C1C}">
                <a14:useLocalDpi xmlns:a14="http://schemas.microsoft.com/office/drawing/2010/main" val="0"/>
              </a:ext>
            </a:extLst>
          </a:blip>
          <a:srcRect t="3451" b="18197"/>
          <a:stretch/>
        </p:blipFill>
        <p:spPr>
          <a:xfrm>
            <a:off x="1550505" y="1119806"/>
            <a:ext cx="8277008" cy="5170581"/>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sp>
        <p:nvSpPr>
          <p:cNvPr id="10" name="Rectangle 9">
            <a:extLst>
              <a:ext uri="{FF2B5EF4-FFF2-40B4-BE49-F238E27FC236}">
                <a16:creationId xmlns:a16="http://schemas.microsoft.com/office/drawing/2014/main" id="{8065F79B-5642-4BBF-A18E-5CD727A4D4C3}"/>
              </a:ext>
            </a:extLst>
          </p:cNvPr>
          <p:cNvSpPr/>
          <p:nvPr/>
        </p:nvSpPr>
        <p:spPr>
          <a:xfrm>
            <a:off x="0" y="695736"/>
            <a:ext cx="12192000" cy="364438"/>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latin typeface="Avenir Book"/>
              </a:rPr>
              <a:t>Maharaja Suite</a:t>
            </a:r>
          </a:p>
        </p:txBody>
      </p:sp>
      <p:pic>
        <p:nvPicPr>
          <p:cNvPr id="11" name="Picture 10">
            <a:extLst>
              <a:ext uri="{FF2B5EF4-FFF2-40B4-BE49-F238E27FC236}">
                <a16:creationId xmlns:a16="http://schemas.microsoft.com/office/drawing/2014/main" id="{3FCB0459-1375-4611-BF1F-3A9B27FC17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84103" y="5735271"/>
            <a:ext cx="923783" cy="566139"/>
          </a:xfrm>
          <a:prstGeom prst="rect">
            <a:avLst/>
          </a:prstGeom>
        </p:spPr>
      </p:pic>
      <p:sp>
        <p:nvSpPr>
          <p:cNvPr id="12" name="Rectangle 11">
            <a:extLst>
              <a:ext uri="{FF2B5EF4-FFF2-40B4-BE49-F238E27FC236}">
                <a16:creationId xmlns:a16="http://schemas.microsoft.com/office/drawing/2014/main" id="{0E6C20F3-6E52-413D-B0FC-A269E4AA66B3}"/>
              </a:ext>
            </a:extLst>
          </p:cNvPr>
          <p:cNvSpPr/>
          <p:nvPr/>
        </p:nvSpPr>
        <p:spPr>
          <a:xfrm>
            <a:off x="7752522" y="6361043"/>
            <a:ext cx="3949148" cy="251791"/>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rPr>
              <a:t>KTAHV 2017			                        15</a:t>
            </a:r>
          </a:p>
        </p:txBody>
      </p:sp>
    </p:spTree>
    <p:extLst>
      <p:ext uri="{BB962C8B-B14F-4D97-AF65-F5344CB8AC3E}">
        <p14:creationId xmlns:p14="http://schemas.microsoft.com/office/powerpoint/2010/main" val="39991135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81750" y="1598428"/>
            <a:ext cx="3886200" cy="4351338"/>
          </a:xfrm>
        </p:spPr>
        <p:txBody>
          <a:bodyPr>
            <a:normAutofit/>
          </a:bodyPr>
          <a:lstStyle/>
          <a:p>
            <a:endParaRPr lang="en-US" sz="1600" dirty="0">
              <a:solidFill>
                <a:schemeClr val="bg2">
                  <a:lumMod val="50000"/>
                </a:schemeClr>
              </a:solidFill>
              <a:latin typeface="Lato Heavy Italic"/>
            </a:endParaRPr>
          </a:p>
          <a:p>
            <a:r>
              <a:rPr lang="en-US" sz="1600" b="1" dirty="0">
                <a:solidFill>
                  <a:schemeClr val="bg2">
                    <a:lumMod val="50000"/>
                  </a:schemeClr>
                </a:solidFill>
                <a:latin typeface="Lato Heavy Italic"/>
              </a:rPr>
              <a:t>Yoga &amp; Meditation</a:t>
            </a:r>
          </a:p>
          <a:p>
            <a:r>
              <a:rPr lang="en-US" sz="1600" b="1" dirty="0">
                <a:solidFill>
                  <a:schemeClr val="bg2">
                    <a:lumMod val="50000"/>
                  </a:schemeClr>
                </a:solidFill>
                <a:latin typeface="Lato Heavy Italic"/>
              </a:rPr>
              <a:t>Gym</a:t>
            </a:r>
          </a:p>
          <a:p>
            <a:r>
              <a:rPr lang="en-US" sz="1600" b="1" dirty="0">
                <a:solidFill>
                  <a:schemeClr val="bg2">
                    <a:lumMod val="50000"/>
                  </a:schemeClr>
                </a:solidFill>
                <a:latin typeface="Lato Heavy Italic"/>
              </a:rPr>
              <a:t>Consultation by Doctors</a:t>
            </a:r>
          </a:p>
          <a:p>
            <a:r>
              <a:rPr lang="en-US" sz="1600" b="1" dirty="0">
                <a:solidFill>
                  <a:schemeClr val="bg2">
                    <a:lumMod val="50000"/>
                  </a:schemeClr>
                </a:solidFill>
                <a:latin typeface="Lato Heavy Italic"/>
              </a:rPr>
              <a:t>Pure Organic &amp; Veg Food</a:t>
            </a:r>
          </a:p>
          <a:p>
            <a:r>
              <a:rPr lang="en-US" sz="1600" b="1" dirty="0">
                <a:solidFill>
                  <a:schemeClr val="bg2">
                    <a:lumMod val="50000"/>
                  </a:schemeClr>
                </a:solidFill>
                <a:latin typeface="Lato Heavy Italic"/>
              </a:rPr>
              <a:t>Astrology &amp; Palmist</a:t>
            </a:r>
          </a:p>
          <a:p>
            <a:r>
              <a:rPr lang="en-US" sz="1600" b="1" dirty="0">
                <a:solidFill>
                  <a:schemeClr val="bg2">
                    <a:lumMod val="50000"/>
                  </a:schemeClr>
                </a:solidFill>
                <a:latin typeface="Lato Heavy Italic"/>
              </a:rPr>
              <a:t>Cooking Classes</a:t>
            </a:r>
          </a:p>
          <a:p>
            <a:r>
              <a:rPr lang="en-US" sz="1600" b="1" dirty="0">
                <a:solidFill>
                  <a:schemeClr val="bg2">
                    <a:lumMod val="50000"/>
                  </a:schemeClr>
                </a:solidFill>
                <a:latin typeface="Lato Heavy Italic"/>
              </a:rPr>
              <a:t>Swimming pool</a:t>
            </a:r>
          </a:p>
          <a:p>
            <a:r>
              <a:rPr lang="en-US" sz="1600" b="1" dirty="0">
                <a:solidFill>
                  <a:schemeClr val="bg2">
                    <a:lumMod val="50000"/>
                  </a:schemeClr>
                </a:solidFill>
                <a:latin typeface="Lato Heavy Italic"/>
              </a:rPr>
              <a:t>Indoor Games</a:t>
            </a:r>
          </a:p>
          <a:p>
            <a:r>
              <a:rPr lang="en-US" sz="1600" b="1" dirty="0">
                <a:solidFill>
                  <a:schemeClr val="bg2">
                    <a:lumMod val="50000"/>
                  </a:schemeClr>
                </a:solidFill>
                <a:latin typeface="Lato Heavy Italic"/>
              </a:rPr>
              <a:t>Library</a:t>
            </a:r>
          </a:p>
          <a:p>
            <a:r>
              <a:rPr lang="en-US" sz="1600" b="1" dirty="0">
                <a:solidFill>
                  <a:schemeClr val="bg2">
                    <a:lumMod val="50000"/>
                  </a:schemeClr>
                </a:solidFill>
                <a:latin typeface="Lato Heavy Italic"/>
              </a:rPr>
              <a:t>Recreational facilities for Kids</a:t>
            </a:r>
          </a:p>
        </p:txBody>
      </p:sp>
      <p:pic>
        <p:nvPicPr>
          <p:cNvPr id="10" name="Picture 9"/>
          <p:cNvPicPr>
            <a:picLocks noChangeAspect="1"/>
          </p:cNvPicPr>
          <p:nvPr/>
        </p:nvPicPr>
        <p:blipFill rotWithShape="1">
          <a:blip r:embed="rId2">
            <a:extLst>
              <a:ext uri="{28A0092B-C50C-407E-A947-70E740481C1C}">
                <a14:useLocalDpi xmlns:a14="http://schemas.microsoft.com/office/drawing/2010/main" val="0"/>
              </a:ext>
            </a:extLst>
          </a:blip>
          <a:srcRect l="17955"/>
          <a:stretch/>
        </p:blipFill>
        <p:spPr>
          <a:xfrm>
            <a:off x="8438169" y="1242701"/>
            <a:ext cx="3263501" cy="2155021"/>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44394" y="3478662"/>
            <a:ext cx="3263502" cy="2175668"/>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pic>
        <p:nvPicPr>
          <p:cNvPr id="12" name="Picture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62525" y="3490374"/>
            <a:ext cx="3263501" cy="2175668"/>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pic>
        <p:nvPicPr>
          <p:cNvPr id="13" name="Picture 1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61323" y="1252715"/>
            <a:ext cx="3250118" cy="2166745"/>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sp>
        <p:nvSpPr>
          <p:cNvPr id="15" name="Rectangle 14">
            <a:extLst>
              <a:ext uri="{FF2B5EF4-FFF2-40B4-BE49-F238E27FC236}">
                <a16:creationId xmlns:a16="http://schemas.microsoft.com/office/drawing/2014/main" id="{D4308EAC-CFED-4E45-B3A5-83F11E008C0B}"/>
              </a:ext>
            </a:extLst>
          </p:cNvPr>
          <p:cNvSpPr/>
          <p:nvPr/>
        </p:nvSpPr>
        <p:spPr>
          <a:xfrm>
            <a:off x="0" y="695736"/>
            <a:ext cx="12192000" cy="364438"/>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latin typeface="Avenir Book"/>
              </a:rPr>
              <a:t>Our Facilities</a:t>
            </a:r>
          </a:p>
        </p:txBody>
      </p:sp>
      <p:pic>
        <p:nvPicPr>
          <p:cNvPr id="18" name="Picture 17">
            <a:extLst>
              <a:ext uri="{FF2B5EF4-FFF2-40B4-BE49-F238E27FC236}">
                <a16:creationId xmlns:a16="http://schemas.microsoft.com/office/drawing/2014/main" id="{62E009DA-13CB-458C-BDBB-A3548DF2533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384103" y="5735271"/>
            <a:ext cx="923783" cy="566139"/>
          </a:xfrm>
          <a:prstGeom prst="rect">
            <a:avLst/>
          </a:prstGeom>
        </p:spPr>
      </p:pic>
      <p:sp>
        <p:nvSpPr>
          <p:cNvPr id="19" name="Rectangle 18">
            <a:extLst>
              <a:ext uri="{FF2B5EF4-FFF2-40B4-BE49-F238E27FC236}">
                <a16:creationId xmlns:a16="http://schemas.microsoft.com/office/drawing/2014/main" id="{CA2365BC-5161-45B7-A866-B1CB5F8338D5}"/>
              </a:ext>
            </a:extLst>
          </p:cNvPr>
          <p:cNvSpPr/>
          <p:nvPr/>
        </p:nvSpPr>
        <p:spPr>
          <a:xfrm>
            <a:off x="7752522" y="6361043"/>
            <a:ext cx="3949148" cy="251791"/>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rPr>
              <a:t>KTAHV 2017			                        16</a:t>
            </a:r>
          </a:p>
        </p:txBody>
      </p:sp>
    </p:spTree>
    <p:extLst>
      <p:ext uri="{BB962C8B-B14F-4D97-AF65-F5344CB8AC3E}">
        <p14:creationId xmlns:p14="http://schemas.microsoft.com/office/powerpoint/2010/main" val="15108576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4070" y="1319591"/>
            <a:ext cx="11131826" cy="4351338"/>
          </a:xfrm>
        </p:spPr>
        <p:txBody>
          <a:bodyPr>
            <a:normAutofit/>
          </a:bodyPr>
          <a:lstStyle/>
          <a:p>
            <a:pPr marL="0" indent="0">
              <a:buNone/>
            </a:pPr>
            <a:r>
              <a:rPr lang="en-US" sz="1800" dirty="0">
                <a:solidFill>
                  <a:schemeClr val="bg2">
                    <a:lumMod val="50000"/>
                  </a:schemeClr>
                </a:solidFill>
                <a:latin typeface="Lato Heavy Italic"/>
              </a:rPr>
              <a:t>We serve pure </a:t>
            </a:r>
            <a:r>
              <a:rPr lang="en-US" sz="1800" b="1" dirty="0">
                <a:solidFill>
                  <a:schemeClr val="bg2">
                    <a:lumMod val="50000"/>
                  </a:schemeClr>
                </a:solidFill>
                <a:latin typeface="Lato Heavy Italic"/>
              </a:rPr>
              <a:t>Organic Vegetarian food </a:t>
            </a:r>
            <a:r>
              <a:rPr lang="en-US" sz="1800" dirty="0">
                <a:solidFill>
                  <a:schemeClr val="bg2">
                    <a:lumMod val="50000"/>
                  </a:schemeClr>
                </a:solidFill>
                <a:latin typeface="Lato Heavy Italic"/>
              </a:rPr>
              <a:t>to our Guest.</a:t>
            </a:r>
          </a:p>
          <a:p>
            <a:pPr marL="0" indent="0">
              <a:buNone/>
            </a:pPr>
            <a:r>
              <a:rPr lang="en-US" sz="1800" dirty="0">
                <a:solidFill>
                  <a:schemeClr val="bg2">
                    <a:lumMod val="50000"/>
                  </a:schemeClr>
                </a:solidFill>
                <a:latin typeface="Lato Heavy Italic"/>
              </a:rPr>
              <a:t>Vegetables and fruit our grown in </a:t>
            </a:r>
            <a:r>
              <a:rPr lang="en-US" sz="1800" b="1" dirty="0">
                <a:solidFill>
                  <a:schemeClr val="bg2">
                    <a:lumMod val="50000"/>
                  </a:schemeClr>
                </a:solidFill>
                <a:latin typeface="Lato Heavy Italic"/>
              </a:rPr>
              <a:t>our own Herbal Garden </a:t>
            </a:r>
            <a:r>
              <a:rPr lang="en-US" sz="1800" dirty="0">
                <a:solidFill>
                  <a:schemeClr val="bg2">
                    <a:lumMod val="50000"/>
                  </a:schemeClr>
                </a:solidFill>
                <a:latin typeface="Lato Heavy Italic"/>
              </a:rPr>
              <a:t>in pure natural condition </a:t>
            </a:r>
            <a:r>
              <a:rPr lang="en-US" sz="1800" b="1" dirty="0">
                <a:solidFill>
                  <a:schemeClr val="bg2">
                    <a:lumMod val="50000"/>
                  </a:schemeClr>
                </a:solidFill>
                <a:latin typeface="Lato Heavy Italic"/>
              </a:rPr>
              <a:t>free from chemicals. </a:t>
            </a:r>
            <a:r>
              <a:rPr lang="en-US" sz="1800" dirty="0">
                <a:solidFill>
                  <a:schemeClr val="bg2">
                    <a:lumMod val="50000"/>
                  </a:schemeClr>
                </a:solidFill>
                <a:latin typeface="Lato Heavy Italic"/>
              </a:rPr>
              <a:t>We also serve the </a:t>
            </a:r>
            <a:r>
              <a:rPr lang="en-US" sz="1800" b="1" dirty="0">
                <a:solidFill>
                  <a:schemeClr val="bg2">
                    <a:lumMod val="50000"/>
                  </a:schemeClr>
                </a:solidFill>
                <a:latin typeface="Lato Heavy Italic"/>
              </a:rPr>
              <a:t>Vegan and </a:t>
            </a:r>
            <a:r>
              <a:rPr lang="en-US" sz="1800" b="1" dirty="0" err="1">
                <a:solidFill>
                  <a:schemeClr val="bg2">
                    <a:lumMod val="50000"/>
                  </a:schemeClr>
                </a:solidFill>
                <a:latin typeface="Lato Heavy Italic"/>
              </a:rPr>
              <a:t>Satvik</a:t>
            </a:r>
            <a:r>
              <a:rPr lang="en-US" sz="1800" b="1" dirty="0">
                <a:solidFill>
                  <a:schemeClr val="bg2">
                    <a:lumMod val="50000"/>
                  </a:schemeClr>
                </a:solidFill>
                <a:latin typeface="Lato Heavy Italic"/>
              </a:rPr>
              <a:t> food.</a:t>
            </a:r>
          </a:p>
          <a:p>
            <a:pPr marL="0" indent="0">
              <a:buNone/>
            </a:pPr>
            <a:r>
              <a:rPr lang="en-US" sz="1800" dirty="0">
                <a:solidFill>
                  <a:schemeClr val="bg2">
                    <a:lumMod val="50000"/>
                  </a:schemeClr>
                </a:solidFill>
                <a:latin typeface="Lato Heavy Italic"/>
              </a:rPr>
              <a:t>As per </a:t>
            </a:r>
            <a:r>
              <a:rPr lang="en-US" sz="1800" b="1" dirty="0">
                <a:solidFill>
                  <a:schemeClr val="bg2">
                    <a:lumMod val="50000"/>
                  </a:schemeClr>
                </a:solidFill>
                <a:latin typeface="Lato Heavy Italic"/>
              </a:rPr>
              <a:t>Vedic Knowledge </a:t>
            </a:r>
            <a:r>
              <a:rPr lang="en-US" sz="1800" dirty="0">
                <a:solidFill>
                  <a:schemeClr val="bg2">
                    <a:lumMod val="50000"/>
                  </a:schemeClr>
                </a:solidFill>
                <a:latin typeface="Lato Heavy Italic"/>
              </a:rPr>
              <a:t>– we abstain from ingesting Non vegetarian food and Alcoholic Drinks.</a:t>
            </a:r>
          </a:p>
          <a:p>
            <a:pPr marL="0" indent="0">
              <a:buNone/>
            </a:pPr>
            <a:endParaRPr lang="en-US" sz="1800" dirty="0">
              <a:solidFill>
                <a:schemeClr val="bg2">
                  <a:lumMod val="50000"/>
                </a:schemeClr>
              </a:solidFill>
              <a:latin typeface="Lato Heavy Italic"/>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82280" y="2784372"/>
            <a:ext cx="2124439" cy="2886557"/>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32295" y="2914081"/>
            <a:ext cx="1970691" cy="2886557"/>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32637" y="3375293"/>
            <a:ext cx="2898820" cy="1964134"/>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sp>
        <p:nvSpPr>
          <p:cNvPr id="12" name="Rectangle 11">
            <a:extLst>
              <a:ext uri="{FF2B5EF4-FFF2-40B4-BE49-F238E27FC236}">
                <a16:creationId xmlns:a16="http://schemas.microsoft.com/office/drawing/2014/main" id="{E90FA7EC-4970-457D-98F1-DBE1B441898E}"/>
              </a:ext>
            </a:extLst>
          </p:cNvPr>
          <p:cNvSpPr/>
          <p:nvPr/>
        </p:nvSpPr>
        <p:spPr>
          <a:xfrm>
            <a:off x="0" y="695736"/>
            <a:ext cx="12192000" cy="364438"/>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latin typeface="Avenir Book"/>
              </a:rPr>
              <a:t>Organic Food</a:t>
            </a:r>
          </a:p>
        </p:txBody>
      </p:sp>
      <p:pic>
        <p:nvPicPr>
          <p:cNvPr id="13" name="Picture 12">
            <a:extLst>
              <a:ext uri="{FF2B5EF4-FFF2-40B4-BE49-F238E27FC236}">
                <a16:creationId xmlns:a16="http://schemas.microsoft.com/office/drawing/2014/main" id="{1FB42519-E3ED-48F7-9E3E-CBA49FE6E59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84103" y="5735271"/>
            <a:ext cx="923783" cy="566139"/>
          </a:xfrm>
          <a:prstGeom prst="rect">
            <a:avLst/>
          </a:prstGeom>
        </p:spPr>
      </p:pic>
      <p:sp>
        <p:nvSpPr>
          <p:cNvPr id="14" name="Rectangle 13">
            <a:extLst>
              <a:ext uri="{FF2B5EF4-FFF2-40B4-BE49-F238E27FC236}">
                <a16:creationId xmlns:a16="http://schemas.microsoft.com/office/drawing/2014/main" id="{3413BAA9-37B0-4779-B2CC-893077D7879A}"/>
              </a:ext>
            </a:extLst>
          </p:cNvPr>
          <p:cNvSpPr/>
          <p:nvPr/>
        </p:nvSpPr>
        <p:spPr>
          <a:xfrm>
            <a:off x="7752522" y="6361043"/>
            <a:ext cx="3949148" cy="251791"/>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rPr>
              <a:t>KTAHV 2017			                        17</a:t>
            </a:r>
          </a:p>
        </p:txBody>
      </p:sp>
      <p:pic>
        <p:nvPicPr>
          <p:cNvPr id="16" name="Picture 15" descr="A bowl of food on a table&#10;&#10;Description generated with very high confidence">
            <a:extLst>
              <a:ext uri="{FF2B5EF4-FFF2-40B4-BE49-F238E27FC236}">
                <a16:creationId xmlns:a16="http://schemas.microsoft.com/office/drawing/2014/main" id="{C48A4315-0693-4805-A5AE-187A885EEC6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5231" y="3375293"/>
            <a:ext cx="2717413" cy="2038059"/>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5340448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3709" y="1354117"/>
            <a:ext cx="11884582" cy="4351338"/>
          </a:xfrm>
          <a:ln w="3175">
            <a:noFill/>
          </a:ln>
        </p:spPr>
        <p:txBody>
          <a:bodyPr>
            <a:normAutofit/>
          </a:bodyPr>
          <a:lstStyle/>
          <a:p>
            <a:pPr marL="0" indent="0">
              <a:buNone/>
            </a:pPr>
            <a:r>
              <a:rPr lang="en-US" sz="1800" dirty="0">
                <a:solidFill>
                  <a:schemeClr val="bg2">
                    <a:lumMod val="50000"/>
                  </a:schemeClr>
                </a:solidFill>
                <a:latin typeface="Lato Heavy Italic"/>
              </a:rPr>
              <a:t>At Village our focus is providing </a:t>
            </a:r>
            <a:r>
              <a:rPr lang="en-US" sz="1800" b="1" dirty="0">
                <a:solidFill>
                  <a:schemeClr val="bg2">
                    <a:lumMod val="50000"/>
                  </a:schemeClr>
                </a:solidFill>
                <a:latin typeface="Lato Heavy Italic"/>
              </a:rPr>
              <a:t>Holistic Health and Rejuvenation</a:t>
            </a:r>
            <a:r>
              <a:rPr lang="en-US" sz="1800" dirty="0">
                <a:solidFill>
                  <a:schemeClr val="bg2">
                    <a:lumMod val="50000"/>
                  </a:schemeClr>
                </a:solidFill>
                <a:latin typeface="Lato Heavy Italic"/>
              </a:rPr>
              <a:t>. For the same the we provide the Early </a:t>
            </a:r>
            <a:r>
              <a:rPr lang="en-US" sz="1800" b="1" dirty="0">
                <a:solidFill>
                  <a:schemeClr val="bg2">
                    <a:lumMod val="50000"/>
                  </a:schemeClr>
                </a:solidFill>
                <a:latin typeface="Lato Heavy Italic"/>
              </a:rPr>
              <a:t>Yoga session</a:t>
            </a:r>
            <a:r>
              <a:rPr lang="en-US" sz="1800" dirty="0">
                <a:solidFill>
                  <a:schemeClr val="bg2">
                    <a:lumMod val="50000"/>
                  </a:schemeClr>
                </a:solidFill>
                <a:latin typeface="Lato Heavy Italic"/>
              </a:rPr>
              <a:t> and Evening </a:t>
            </a:r>
            <a:r>
              <a:rPr lang="en-US" sz="1800" b="1" dirty="0">
                <a:solidFill>
                  <a:schemeClr val="bg2">
                    <a:lumMod val="50000"/>
                  </a:schemeClr>
                </a:solidFill>
                <a:latin typeface="Lato Heavy Italic"/>
              </a:rPr>
              <a:t>Meditation Session.</a:t>
            </a:r>
          </a:p>
          <a:p>
            <a:pPr marL="0" indent="0">
              <a:buNone/>
            </a:pPr>
            <a:r>
              <a:rPr lang="en-US" sz="1800" b="1" dirty="0">
                <a:solidFill>
                  <a:schemeClr val="bg2">
                    <a:lumMod val="50000"/>
                  </a:schemeClr>
                </a:solidFill>
                <a:latin typeface="Lato Heavy Italic"/>
              </a:rPr>
              <a:t>We also conduct various Yoga Retreat – Lakshya Yoga Retreat etc.</a:t>
            </a:r>
          </a:p>
          <a:p>
            <a:pPr marL="0" indent="0">
              <a:buNone/>
            </a:pPr>
            <a:endParaRPr lang="en-US" sz="1800" b="1" dirty="0">
              <a:solidFill>
                <a:schemeClr val="bg2">
                  <a:lumMod val="50000"/>
                </a:schemeClr>
              </a:solidFill>
              <a:latin typeface="Lato Heavy Italic"/>
            </a:endParaRPr>
          </a:p>
          <a:p>
            <a:pPr marL="0" indent="0">
              <a:buNone/>
            </a:pPr>
            <a:endParaRPr lang="en-US" sz="1800" b="1" dirty="0">
              <a:solidFill>
                <a:schemeClr val="bg2">
                  <a:lumMod val="50000"/>
                </a:schemeClr>
              </a:solidFill>
              <a:latin typeface="Lato Heavy Italic"/>
            </a:endParaRPr>
          </a:p>
        </p:txBody>
      </p:sp>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t="40639"/>
          <a:stretch/>
        </p:blipFill>
        <p:spPr>
          <a:xfrm>
            <a:off x="3462087" y="3349360"/>
            <a:ext cx="4939659" cy="2076984"/>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pic>
        <p:nvPicPr>
          <p:cNvPr id="9" name="Picture 8"/>
          <p:cNvPicPr>
            <a:picLocks noChangeAspect="1"/>
          </p:cNvPicPr>
          <p:nvPr/>
        </p:nvPicPr>
        <p:blipFill rotWithShape="1">
          <a:blip r:embed="rId3">
            <a:extLst>
              <a:ext uri="{28A0092B-C50C-407E-A947-70E740481C1C}">
                <a14:useLocalDpi xmlns:a14="http://schemas.microsoft.com/office/drawing/2010/main" val="0"/>
              </a:ext>
            </a:extLst>
          </a:blip>
          <a:srcRect l="11868" t="23936" b="17145"/>
          <a:stretch/>
        </p:blipFill>
        <p:spPr>
          <a:xfrm>
            <a:off x="265536" y="2868262"/>
            <a:ext cx="2650432" cy="3150078"/>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pic>
        <p:nvPicPr>
          <p:cNvPr id="10" name="Picture 9">
            <a:extLst>
              <a:ext uri="{FF2B5EF4-FFF2-40B4-BE49-F238E27FC236}">
                <a16:creationId xmlns:a16="http://schemas.microsoft.com/office/drawing/2014/main" id="{E29C84E9-3A07-4257-8F5A-0C4929142BF4}"/>
              </a:ext>
            </a:extLst>
          </p:cNvPr>
          <p:cNvPicPr>
            <a:picLocks noChangeAspect="1"/>
          </p:cNvPicPr>
          <p:nvPr/>
        </p:nvPicPr>
        <p:blipFill rotWithShape="1">
          <a:blip r:embed="rId4">
            <a:extLst>
              <a:ext uri="{28A0092B-C50C-407E-A947-70E740481C1C}">
                <a14:useLocalDpi xmlns:a14="http://schemas.microsoft.com/office/drawing/2010/main" val="0"/>
              </a:ext>
            </a:extLst>
          </a:blip>
          <a:srcRect b="49758"/>
          <a:stretch/>
        </p:blipFill>
        <p:spPr>
          <a:xfrm>
            <a:off x="8729914" y="3141218"/>
            <a:ext cx="3308377" cy="2493268"/>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sp>
        <p:nvSpPr>
          <p:cNvPr id="13" name="Rectangle 12">
            <a:extLst>
              <a:ext uri="{FF2B5EF4-FFF2-40B4-BE49-F238E27FC236}">
                <a16:creationId xmlns:a16="http://schemas.microsoft.com/office/drawing/2014/main" id="{F4B7B031-56B5-4197-B1E0-FC49DDACA111}"/>
              </a:ext>
            </a:extLst>
          </p:cNvPr>
          <p:cNvSpPr/>
          <p:nvPr/>
        </p:nvSpPr>
        <p:spPr>
          <a:xfrm>
            <a:off x="0" y="695736"/>
            <a:ext cx="12192000" cy="364438"/>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latin typeface="Avenir Book"/>
              </a:rPr>
              <a:t>Yoga Meditation</a:t>
            </a:r>
          </a:p>
        </p:txBody>
      </p:sp>
      <p:pic>
        <p:nvPicPr>
          <p:cNvPr id="14" name="Picture 13">
            <a:extLst>
              <a:ext uri="{FF2B5EF4-FFF2-40B4-BE49-F238E27FC236}">
                <a16:creationId xmlns:a16="http://schemas.microsoft.com/office/drawing/2014/main" id="{1F4B1A55-C188-44CC-B682-EA386EEFB3E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84103" y="5735271"/>
            <a:ext cx="923783" cy="566139"/>
          </a:xfrm>
          <a:prstGeom prst="rect">
            <a:avLst/>
          </a:prstGeom>
        </p:spPr>
      </p:pic>
      <p:sp>
        <p:nvSpPr>
          <p:cNvPr id="15" name="Rectangle 14">
            <a:extLst>
              <a:ext uri="{FF2B5EF4-FFF2-40B4-BE49-F238E27FC236}">
                <a16:creationId xmlns:a16="http://schemas.microsoft.com/office/drawing/2014/main" id="{2476B492-6917-4A04-9F83-125AD174BF00}"/>
              </a:ext>
            </a:extLst>
          </p:cNvPr>
          <p:cNvSpPr/>
          <p:nvPr/>
        </p:nvSpPr>
        <p:spPr>
          <a:xfrm>
            <a:off x="7752522" y="6361043"/>
            <a:ext cx="3949148" cy="251791"/>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rPr>
              <a:t>KTAHV 2017			                        18</a:t>
            </a:r>
          </a:p>
        </p:txBody>
      </p:sp>
    </p:spTree>
    <p:extLst>
      <p:ext uri="{BB962C8B-B14F-4D97-AF65-F5344CB8AC3E}">
        <p14:creationId xmlns:p14="http://schemas.microsoft.com/office/powerpoint/2010/main" val="33260432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Content Placeholder 13" descr="A close up of text on a white background&#10;&#10;Description generated with very high confidence">
            <a:extLst>
              <a:ext uri="{FF2B5EF4-FFF2-40B4-BE49-F238E27FC236}">
                <a16:creationId xmlns:a16="http://schemas.microsoft.com/office/drawing/2014/main" id="{0BA1F06B-41C4-49AF-9543-78BA910D8BE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76419" y="3601034"/>
            <a:ext cx="1674912" cy="2344877"/>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pic>
        <p:nvPicPr>
          <p:cNvPr id="18" name="Picture 17" descr="A close up of text on a white background&#10;&#10;Description generated with very high confidence">
            <a:extLst>
              <a:ext uri="{FF2B5EF4-FFF2-40B4-BE49-F238E27FC236}">
                <a16:creationId xmlns:a16="http://schemas.microsoft.com/office/drawing/2014/main" id="{783DCBD8-FE95-4DBE-81F7-D1F037C74E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28935" y="3614972"/>
            <a:ext cx="1697510" cy="2334575"/>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pic>
        <p:nvPicPr>
          <p:cNvPr id="19" name="Picture 18" descr="A close up of text on a white background&#10;&#10;Description generated with high confidence">
            <a:extLst>
              <a:ext uri="{FF2B5EF4-FFF2-40B4-BE49-F238E27FC236}">
                <a16:creationId xmlns:a16="http://schemas.microsoft.com/office/drawing/2014/main" id="{4E0FCD41-2F18-4CD1-A472-DA8A7DB98F8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04716" y="3614972"/>
            <a:ext cx="1771612" cy="2320637"/>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sp>
        <p:nvSpPr>
          <p:cNvPr id="20" name="Content Placeholder 2">
            <a:extLst>
              <a:ext uri="{FF2B5EF4-FFF2-40B4-BE49-F238E27FC236}">
                <a16:creationId xmlns:a16="http://schemas.microsoft.com/office/drawing/2014/main" id="{A8CB61BA-7686-4861-9C2B-82EC6C410E18}"/>
              </a:ext>
            </a:extLst>
          </p:cNvPr>
          <p:cNvSpPr txBox="1">
            <a:spLocks/>
          </p:cNvSpPr>
          <p:nvPr/>
        </p:nvSpPr>
        <p:spPr>
          <a:xfrm>
            <a:off x="165773" y="1534939"/>
            <a:ext cx="9211917" cy="4351338"/>
          </a:xfrm>
          <a:prstGeom prst="rect">
            <a:avLst/>
          </a:prstGeom>
          <a:ln w="3175">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b="1" dirty="0">
                <a:solidFill>
                  <a:schemeClr val="bg2">
                    <a:lumMod val="50000"/>
                  </a:schemeClr>
                </a:solidFill>
                <a:latin typeface="Lato Heavy Italic"/>
              </a:rPr>
              <a:t>Kairali Ayurvedic Healing Village holds following certifications:</a:t>
            </a:r>
          </a:p>
          <a:p>
            <a:r>
              <a:rPr lang="en-US" sz="1800" b="1" dirty="0">
                <a:solidFill>
                  <a:schemeClr val="bg2">
                    <a:lumMod val="50000"/>
                  </a:schemeClr>
                </a:solidFill>
                <a:latin typeface="Lato Heavy Italic"/>
              </a:rPr>
              <a:t>NABH </a:t>
            </a:r>
            <a:r>
              <a:rPr lang="en-US" sz="1800" b="1">
                <a:solidFill>
                  <a:schemeClr val="bg2">
                    <a:lumMod val="50000"/>
                  </a:schemeClr>
                </a:solidFill>
                <a:latin typeface="Lato Heavy Italic"/>
              </a:rPr>
              <a:t>certified </a:t>
            </a:r>
          </a:p>
          <a:p>
            <a:r>
              <a:rPr lang="en-US" sz="1800" b="1">
                <a:solidFill>
                  <a:schemeClr val="bg2">
                    <a:lumMod val="50000"/>
                  </a:schemeClr>
                </a:solidFill>
                <a:latin typeface="Lato Heavy Italic"/>
              </a:rPr>
              <a:t>Hospital </a:t>
            </a:r>
            <a:r>
              <a:rPr lang="en-US" sz="1800" b="1" dirty="0">
                <a:solidFill>
                  <a:schemeClr val="bg2">
                    <a:lumMod val="50000"/>
                  </a:schemeClr>
                </a:solidFill>
                <a:latin typeface="Lato Heavy Italic"/>
              </a:rPr>
              <a:t>License</a:t>
            </a:r>
          </a:p>
          <a:p>
            <a:r>
              <a:rPr lang="en-US" sz="1800" b="1" dirty="0">
                <a:solidFill>
                  <a:schemeClr val="bg2">
                    <a:lumMod val="50000"/>
                  </a:schemeClr>
                </a:solidFill>
                <a:latin typeface="Lato Heavy Italic"/>
              </a:rPr>
              <a:t>Green Leaf Certification</a:t>
            </a:r>
          </a:p>
          <a:p>
            <a:r>
              <a:rPr lang="en-US" sz="1800" b="1" dirty="0">
                <a:solidFill>
                  <a:schemeClr val="bg2">
                    <a:lumMod val="50000"/>
                  </a:schemeClr>
                </a:solidFill>
                <a:latin typeface="Lato Heavy Italic"/>
              </a:rPr>
              <a:t>Paramedical Certified</a:t>
            </a:r>
          </a:p>
          <a:p>
            <a:pPr marL="0" indent="0">
              <a:buNone/>
            </a:pPr>
            <a:endParaRPr lang="en-US" sz="1800" b="1" dirty="0">
              <a:solidFill>
                <a:schemeClr val="bg2">
                  <a:lumMod val="50000"/>
                </a:schemeClr>
              </a:solidFill>
              <a:latin typeface="Lato Heavy Italic"/>
            </a:endParaRPr>
          </a:p>
        </p:txBody>
      </p:sp>
      <p:sp>
        <p:nvSpPr>
          <p:cNvPr id="13" name="Rectangle 12">
            <a:extLst>
              <a:ext uri="{FF2B5EF4-FFF2-40B4-BE49-F238E27FC236}">
                <a16:creationId xmlns:a16="http://schemas.microsoft.com/office/drawing/2014/main" id="{E36B446D-D040-46F9-BD64-56D40CC47ABB}"/>
              </a:ext>
            </a:extLst>
          </p:cNvPr>
          <p:cNvSpPr/>
          <p:nvPr/>
        </p:nvSpPr>
        <p:spPr>
          <a:xfrm>
            <a:off x="0" y="695736"/>
            <a:ext cx="12192000" cy="364438"/>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latin typeface="Avenir Book"/>
              </a:rPr>
              <a:t>Our Certificates</a:t>
            </a:r>
          </a:p>
        </p:txBody>
      </p:sp>
      <p:pic>
        <p:nvPicPr>
          <p:cNvPr id="15" name="Picture 14">
            <a:extLst>
              <a:ext uri="{FF2B5EF4-FFF2-40B4-BE49-F238E27FC236}">
                <a16:creationId xmlns:a16="http://schemas.microsoft.com/office/drawing/2014/main" id="{E406204E-A148-45EA-9E36-94DC4D512F8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84103" y="5735271"/>
            <a:ext cx="923783" cy="566139"/>
          </a:xfrm>
          <a:prstGeom prst="rect">
            <a:avLst/>
          </a:prstGeom>
        </p:spPr>
      </p:pic>
      <p:sp>
        <p:nvSpPr>
          <p:cNvPr id="16" name="Rectangle 15">
            <a:extLst>
              <a:ext uri="{FF2B5EF4-FFF2-40B4-BE49-F238E27FC236}">
                <a16:creationId xmlns:a16="http://schemas.microsoft.com/office/drawing/2014/main" id="{C3659DDB-0DB9-46D5-AFE5-165E261D0ECC}"/>
              </a:ext>
            </a:extLst>
          </p:cNvPr>
          <p:cNvSpPr/>
          <p:nvPr/>
        </p:nvSpPr>
        <p:spPr>
          <a:xfrm>
            <a:off x="7752522" y="6361043"/>
            <a:ext cx="3949148" cy="251791"/>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rPr>
              <a:t>KTAHV 2017			                        19</a:t>
            </a:r>
          </a:p>
        </p:txBody>
      </p:sp>
      <p:pic>
        <p:nvPicPr>
          <p:cNvPr id="3" name="Picture 2" descr="A close up of text on a white background&#10;&#10;Description generated with very high confidence">
            <a:extLst>
              <a:ext uri="{FF2B5EF4-FFF2-40B4-BE49-F238E27FC236}">
                <a16:creationId xmlns:a16="http://schemas.microsoft.com/office/drawing/2014/main" id="{B4C5E257-46D0-45C2-9C88-396801A5AE5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3769" y="3582781"/>
            <a:ext cx="1569266" cy="2363130"/>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7087335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652559" y="1005819"/>
            <a:ext cx="7886700" cy="1325563"/>
          </a:xfrm>
        </p:spPr>
        <p:txBody>
          <a:bodyPr/>
          <a:lstStyle/>
          <a:p>
            <a:r>
              <a:rPr lang="en-US" b="1" dirty="0">
                <a:solidFill>
                  <a:schemeClr val="bg2">
                    <a:lumMod val="50000"/>
                  </a:schemeClr>
                </a:solidFill>
                <a:latin typeface="Avenir Book"/>
              </a:rPr>
              <a:t>Thank You for your Attention!!</a:t>
            </a:r>
          </a:p>
        </p:txBody>
      </p:sp>
      <p:sp>
        <p:nvSpPr>
          <p:cNvPr id="11" name="TextBox 10"/>
          <p:cNvSpPr txBox="1"/>
          <p:nvPr/>
        </p:nvSpPr>
        <p:spPr>
          <a:xfrm>
            <a:off x="420630" y="2495593"/>
            <a:ext cx="3397058" cy="707886"/>
          </a:xfrm>
          <a:prstGeom prst="rect">
            <a:avLst/>
          </a:prstGeom>
          <a:noFill/>
        </p:spPr>
        <p:txBody>
          <a:bodyPr wrap="square" rtlCol="0">
            <a:spAutoFit/>
          </a:bodyPr>
          <a:lstStyle/>
          <a:p>
            <a:r>
              <a:rPr lang="en-US" sz="2000" dirty="0">
                <a:solidFill>
                  <a:schemeClr val="bg2">
                    <a:lumMod val="50000"/>
                  </a:schemeClr>
                </a:solidFill>
                <a:latin typeface="Lato Heavy Italic"/>
              </a:rPr>
              <a:t>We will look forward to Welcome You!!</a:t>
            </a:r>
          </a:p>
        </p:txBody>
      </p:sp>
      <p:sp>
        <p:nvSpPr>
          <p:cNvPr id="12" name="TextBox 11"/>
          <p:cNvSpPr txBox="1"/>
          <p:nvPr/>
        </p:nvSpPr>
        <p:spPr>
          <a:xfrm>
            <a:off x="420630" y="5319772"/>
            <a:ext cx="3854258" cy="830997"/>
          </a:xfrm>
          <a:prstGeom prst="rect">
            <a:avLst/>
          </a:prstGeom>
          <a:noFill/>
        </p:spPr>
        <p:txBody>
          <a:bodyPr wrap="square" rtlCol="0">
            <a:spAutoFit/>
          </a:bodyPr>
          <a:lstStyle/>
          <a:p>
            <a:r>
              <a:rPr lang="en-US" sz="1600" dirty="0">
                <a:solidFill>
                  <a:schemeClr val="accent6">
                    <a:lumMod val="50000"/>
                  </a:schemeClr>
                </a:solidFill>
                <a:latin typeface="Lato Heavy Italic"/>
              </a:rPr>
              <a:t>Kairali – The Ayurvedic Healing Village (KTAHV)</a:t>
            </a:r>
          </a:p>
          <a:p>
            <a:r>
              <a:rPr lang="en-US" sz="1600" dirty="0">
                <a:solidFill>
                  <a:schemeClr val="accent6">
                    <a:lumMod val="50000"/>
                  </a:schemeClr>
                </a:solidFill>
                <a:latin typeface="Lato Heavy Italic"/>
              </a:rPr>
              <a:t>Kerala</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16341" y="2157280"/>
            <a:ext cx="5828469" cy="3885645"/>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sp>
        <p:nvSpPr>
          <p:cNvPr id="14" name="Rectangle 13">
            <a:extLst>
              <a:ext uri="{FF2B5EF4-FFF2-40B4-BE49-F238E27FC236}">
                <a16:creationId xmlns:a16="http://schemas.microsoft.com/office/drawing/2014/main" id="{77DEDD60-2017-4E23-9371-6B7B5D3A49C0}"/>
              </a:ext>
            </a:extLst>
          </p:cNvPr>
          <p:cNvSpPr/>
          <p:nvPr/>
        </p:nvSpPr>
        <p:spPr>
          <a:xfrm>
            <a:off x="0" y="695736"/>
            <a:ext cx="12192000" cy="364438"/>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b="1" dirty="0">
              <a:solidFill>
                <a:schemeClr val="tx1"/>
              </a:solidFill>
              <a:latin typeface="Avenir Book"/>
            </a:endParaRPr>
          </a:p>
        </p:txBody>
      </p:sp>
      <p:pic>
        <p:nvPicPr>
          <p:cNvPr id="15" name="Picture 14">
            <a:extLst>
              <a:ext uri="{FF2B5EF4-FFF2-40B4-BE49-F238E27FC236}">
                <a16:creationId xmlns:a16="http://schemas.microsoft.com/office/drawing/2014/main" id="{3041A234-6AFA-4ED1-914F-3E06859710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84103" y="5735271"/>
            <a:ext cx="923783" cy="566139"/>
          </a:xfrm>
          <a:prstGeom prst="rect">
            <a:avLst/>
          </a:prstGeom>
        </p:spPr>
      </p:pic>
      <p:sp>
        <p:nvSpPr>
          <p:cNvPr id="16" name="Rectangle 15">
            <a:extLst>
              <a:ext uri="{FF2B5EF4-FFF2-40B4-BE49-F238E27FC236}">
                <a16:creationId xmlns:a16="http://schemas.microsoft.com/office/drawing/2014/main" id="{724A2CEB-339B-4709-AA4C-47E735957ABD}"/>
              </a:ext>
            </a:extLst>
          </p:cNvPr>
          <p:cNvSpPr/>
          <p:nvPr/>
        </p:nvSpPr>
        <p:spPr>
          <a:xfrm>
            <a:off x="7752522" y="6361043"/>
            <a:ext cx="3949148" cy="251791"/>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rPr>
              <a:t>KTAHV 2017			                        20</a:t>
            </a:r>
          </a:p>
        </p:txBody>
      </p:sp>
    </p:spTree>
    <p:extLst>
      <p:ext uri="{BB962C8B-B14F-4D97-AF65-F5344CB8AC3E}">
        <p14:creationId xmlns:p14="http://schemas.microsoft.com/office/powerpoint/2010/main" val="17437690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1085</Words>
  <Application>Microsoft Office PowerPoint</Application>
  <PresentationFormat>Widescreen</PresentationFormat>
  <Paragraphs>139</Paragraphs>
  <Slides>21</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21</vt:i4>
      </vt:variant>
    </vt:vector>
  </HeadingPairs>
  <TitlesOfParts>
    <vt:vector size="31" baseType="lpstr">
      <vt:lpstr>Arial</vt:lpstr>
      <vt:lpstr>Avenir Book</vt:lpstr>
      <vt:lpstr>Calibri</vt:lpstr>
      <vt:lpstr>Calibri Light</vt:lpstr>
      <vt:lpstr>Kozuka Gothic Pr6N EL</vt:lpstr>
      <vt:lpstr>Kozuka Gothic Pr6N L</vt:lpstr>
      <vt:lpstr>Laila</vt:lpstr>
      <vt:lpstr>Lato Heavy Italic</vt:lpstr>
      <vt:lpstr>Noto Serif</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for your Attention!!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Marketing</dc:creator>
  <cp:lastModifiedBy>Marketing</cp:lastModifiedBy>
  <cp:revision>5</cp:revision>
  <dcterms:created xsi:type="dcterms:W3CDTF">2018-08-14T09:20:14Z</dcterms:created>
  <dcterms:modified xsi:type="dcterms:W3CDTF">2018-08-14T09:31:47Z</dcterms:modified>
</cp:coreProperties>
</file>